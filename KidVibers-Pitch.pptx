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Elisha Clark, the founder of KidVibers. I built this platform because I wanted a way for kids to learn coding that actually feels fun — not like homework. Today I want to show you what we've built and how it could help kids in Arlington.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coding apps for kids have the same core issues: they're either too boring, too expensive, or not engaging enough. Kids lose interest fast when they can't see progress or feel like they're just doing more schoolwork.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talk to kids about what they want, it's consistent: they want it to feel like a game, they want to earn rewards, and they want to build cool stuff fast. KidVibers is designed from the ground up around exactly these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KidVibers has 152 real lessons across 16 themed worlds. Kids earn XP, collect tokens, beat boss battles, and build real projects. There's an AI buddy named Byte who gives hints — not answers — so kids actually learn. And there are zero ads, 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learning loop is simple: start a world, do short lessons with real code, earn XP and tokens, then beat the boss battle at the end of the world to unlock the next one. Along the way, kids build real things in the Playground.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 lessons spread across 16 worlds — that's months of content. Kids start with the basics and work all the way up to object-oriented programming, data structures, and even AI concepts. Each world has a theme and a boss battle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other app combines real programming languages, a full game loop with XP and boss battles, a built-in AI buddy, AND stays ad-free and safe for kids ages 6-16. KidVibers is the only app that hits all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libraries specifically, KidVibers works great as a drop-in coding program. Kids get a class code to join, you can track progress from a teacher dashboard, and every kid needs parental consent before they can access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is non-negotiable. Every single kid account requires a parent or guardian to approve it before the child can do anything. There are no ads, ever. And there's no private messaging between users — everything is public and moderated. Full details at kidvibers.com/trust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is straightforward. Free forever for starters, $4.99/month for Pro which unlocks everything. For libraries and schools we do custom bulk pricing. Right now, paid plans aren't actually charging yet — so everyone gets Pro features for free while we finish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it live. Go to kidvibers.com. Log in as demokid / kidvibers1 to see the full kid experience — lessons, the playground, boss battles, avatar. Then log in as arlington / library1 to see the teacher/library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ask is simple: let's partner to bring coding to Arlington kids. We can offer free Pro access to library card holders as a pilot program. I'm here to make this work, and I'd love your feedback to keep making KidVibers better.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820"/>
        </a:solidFill>
      </p:bgPr>
    </p:bg>
    <p:spTree>
      <p:nvGrpSpPr>
        <p:cNvPr id="1" name=""/>
        <p:cNvGrpSpPr/>
        <p:nvPr/>
      </p:nvGrpSpPr>
      <p:grpSpPr>
        <a:xfrm>
          <a:off x="0" y="0"/>
          <a:ext cx="0" cy="0"/>
          <a:chOff x="0" y="0"/>
          <a:chExt cx="0" cy="0"/>
        </a:xfrm>
      </p:grpSpPr>
      <p:sp>
        <p:nvSpPr>
          <p:cNvPr id="2" name="Shape 0"/>
          <p:cNvSpPr/>
          <p:nvPr/>
        </p:nvSpPr>
        <p:spPr>
          <a:xfrm>
            <a:off x="3474720" y="320040"/>
            <a:ext cx="2194560" cy="1828800"/>
          </a:xfrm>
          <a:prstGeom prst="roundRect">
            <a:avLst>
              <a:gd name="adj" fmla="val 6000"/>
            </a:avLst>
          </a:prstGeom>
          <a:solidFill>
            <a:srgbClr val="1E0A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3" name="Text 1"/>
          <p:cNvSpPr/>
          <p:nvPr/>
        </p:nvSpPr>
        <p:spPr>
          <a:xfrm>
            <a:off x="3474720" y="320040"/>
            <a:ext cx="2194560" cy="1828800"/>
          </a:xfrm>
          <a:prstGeom prst="rect">
            <a:avLst/>
          </a:prstGeom>
          <a:noFill/>
          <a:ln/>
        </p:spPr>
        <p:txBody>
          <a:bodyPr wrap="square" lIns="0" tIns="0" rIns="0" bIns="0" rtlCol="0" anchor="ctr"/>
          <a:lstStyle/>
          <a:p>
            <a:pPr algn="ctr" indent="0" marL="0">
              <a:buNone/>
            </a:pPr>
            <a:r>
              <a:rPr lang="en-US" sz="7200" dirty="0">
                <a:solidFill>
                  <a:srgbClr val="000000"/>
                </a:solidFill>
              </a:rPr>
              <a:t>🚀</a:t>
            </a:r>
            <a:endParaRPr lang="en-US" sz="7200" dirty="0"/>
          </a:p>
        </p:txBody>
      </p:sp>
      <p:sp>
        <p:nvSpPr>
          <p:cNvPr id="4" name="Text 2"/>
          <p:cNvSpPr/>
          <p:nvPr/>
        </p:nvSpPr>
        <p:spPr>
          <a:xfrm>
            <a:off x="457200" y="2212848"/>
            <a:ext cx="8229600" cy="1005840"/>
          </a:xfrm>
          <a:prstGeom prst="rect">
            <a:avLst/>
          </a:prstGeom>
          <a:noFill/>
          <a:ln/>
        </p:spPr>
        <p:txBody>
          <a:bodyPr wrap="square" lIns="0" tIns="0" rIns="0" bIns="0" rtlCol="0" anchor="ctr"/>
          <a:lstStyle/>
          <a:p>
            <a:pPr algn="ctr" indent="0" marL="0">
              <a:buNone/>
            </a:pPr>
            <a:r>
              <a:rPr lang="en-US" sz="6400" b="1" dirty="0">
                <a:solidFill>
                  <a:srgbClr val="FFFFFF"/>
                </a:solidFill>
                <a:latin typeface="Calibri" pitchFamily="34" charset="0"/>
                <a:ea typeface="Calibri" pitchFamily="34" charset="-122"/>
                <a:cs typeface="Calibri" pitchFamily="34" charset="-120"/>
              </a:rPr>
              <a:t>KidVibers</a:t>
            </a:r>
            <a:endParaRPr lang="en-US" sz="6400" dirty="0"/>
          </a:p>
        </p:txBody>
      </p:sp>
      <p:sp>
        <p:nvSpPr>
          <p:cNvPr id="5" name="Text 3"/>
          <p:cNvSpPr/>
          <p:nvPr/>
        </p:nvSpPr>
        <p:spPr>
          <a:xfrm>
            <a:off x="457200" y="3218688"/>
            <a:ext cx="8229600" cy="502920"/>
          </a:xfrm>
          <a:prstGeom prst="rect">
            <a:avLst/>
          </a:prstGeom>
          <a:noFill/>
          <a:ln/>
        </p:spPr>
        <p:txBody>
          <a:bodyPr wrap="square" lIns="0" tIns="0" rIns="0" bIns="0" rtlCol="0" anchor="ctr"/>
          <a:lstStyle/>
          <a:p>
            <a:pPr algn="ctr" indent="0" marL="0">
              <a:buNone/>
            </a:pPr>
            <a:r>
              <a:rPr lang="en-US" sz="2200" dirty="0">
                <a:solidFill>
                  <a:srgbClr val="F472B6"/>
                </a:solidFill>
                <a:latin typeface="Calibri" pitchFamily="34" charset="0"/>
                <a:ea typeface="Calibri" pitchFamily="34" charset="-122"/>
                <a:cs typeface="Calibri" pitchFamily="34" charset="-120"/>
              </a:rPr>
              <a:t>The Duolingo of coding — built for kids</a:t>
            </a:r>
            <a:endParaRPr lang="en-US" sz="2200" dirty="0"/>
          </a:p>
        </p:txBody>
      </p:sp>
      <p:sp>
        <p:nvSpPr>
          <p:cNvPr id="6" name="Shape 4"/>
          <p:cNvSpPr/>
          <p:nvPr/>
        </p:nvSpPr>
        <p:spPr>
          <a:xfrm>
            <a:off x="708660" y="3858768"/>
            <a:ext cx="1828800" cy="384048"/>
          </a:xfrm>
          <a:prstGeom prst="roundRect">
            <a:avLst>
              <a:gd name="adj" fmla="val 50000"/>
            </a:avLst>
          </a:prstGeom>
          <a:solidFill>
            <a:srgbClr val="7C3AED"/>
          </a:solidFill>
          <a:ln w="12700">
            <a:solidFill>
              <a:srgbClr val="A78BFA"/>
            </a:solidFill>
            <a:prstDash val="solid"/>
          </a:ln>
        </p:spPr>
      </p:sp>
      <p:sp>
        <p:nvSpPr>
          <p:cNvPr id="7" name="Text 5"/>
          <p:cNvSpPr/>
          <p:nvPr/>
        </p:nvSpPr>
        <p:spPr>
          <a:xfrm>
            <a:off x="708660" y="3858768"/>
            <a:ext cx="18288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152 lessons</a:t>
            </a:r>
            <a:endParaRPr lang="en-US" sz="1200" dirty="0"/>
          </a:p>
        </p:txBody>
      </p:sp>
      <p:sp>
        <p:nvSpPr>
          <p:cNvPr id="8" name="Shape 6"/>
          <p:cNvSpPr/>
          <p:nvPr/>
        </p:nvSpPr>
        <p:spPr>
          <a:xfrm>
            <a:off x="2674620" y="3858768"/>
            <a:ext cx="1828800" cy="384048"/>
          </a:xfrm>
          <a:prstGeom prst="roundRect">
            <a:avLst>
              <a:gd name="adj" fmla="val 50000"/>
            </a:avLst>
          </a:prstGeom>
          <a:solidFill>
            <a:srgbClr val="7C3AED"/>
          </a:solidFill>
          <a:ln w="12700">
            <a:solidFill>
              <a:srgbClr val="A78BFA"/>
            </a:solidFill>
            <a:prstDash val="solid"/>
          </a:ln>
        </p:spPr>
      </p:sp>
      <p:sp>
        <p:nvSpPr>
          <p:cNvPr id="9" name="Text 7"/>
          <p:cNvSpPr/>
          <p:nvPr/>
        </p:nvSpPr>
        <p:spPr>
          <a:xfrm>
            <a:off x="2674620" y="3858768"/>
            <a:ext cx="18288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16 worlds</a:t>
            </a:r>
            <a:endParaRPr lang="en-US" sz="1200" dirty="0"/>
          </a:p>
        </p:txBody>
      </p:sp>
      <p:sp>
        <p:nvSpPr>
          <p:cNvPr id="10" name="Shape 8"/>
          <p:cNvSpPr/>
          <p:nvPr/>
        </p:nvSpPr>
        <p:spPr>
          <a:xfrm>
            <a:off x="4640580" y="3858768"/>
            <a:ext cx="1828800" cy="384048"/>
          </a:xfrm>
          <a:prstGeom prst="roundRect">
            <a:avLst>
              <a:gd name="adj" fmla="val 50000"/>
            </a:avLst>
          </a:prstGeom>
          <a:solidFill>
            <a:srgbClr val="7C3AED"/>
          </a:solidFill>
          <a:ln w="12700">
            <a:solidFill>
              <a:srgbClr val="A78BFA"/>
            </a:solidFill>
            <a:prstDash val="solid"/>
          </a:ln>
        </p:spPr>
      </p:sp>
      <p:sp>
        <p:nvSpPr>
          <p:cNvPr id="11" name="Text 9"/>
          <p:cNvSpPr/>
          <p:nvPr/>
        </p:nvSpPr>
        <p:spPr>
          <a:xfrm>
            <a:off x="4640580" y="3858768"/>
            <a:ext cx="18288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AI buddy</a:t>
            </a:r>
            <a:endParaRPr lang="en-US" sz="1200" dirty="0"/>
          </a:p>
        </p:txBody>
      </p:sp>
      <p:sp>
        <p:nvSpPr>
          <p:cNvPr id="12" name="Shape 10"/>
          <p:cNvSpPr/>
          <p:nvPr/>
        </p:nvSpPr>
        <p:spPr>
          <a:xfrm>
            <a:off x="6606540" y="3858768"/>
            <a:ext cx="1828800" cy="384048"/>
          </a:xfrm>
          <a:prstGeom prst="roundRect">
            <a:avLst>
              <a:gd name="adj" fmla="val 50000"/>
            </a:avLst>
          </a:prstGeom>
          <a:solidFill>
            <a:srgbClr val="7C3AED"/>
          </a:solidFill>
          <a:ln w="12700">
            <a:solidFill>
              <a:srgbClr val="A78BFA"/>
            </a:solidFill>
            <a:prstDash val="solid"/>
          </a:ln>
        </p:spPr>
      </p:sp>
      <p:sp>
        <p:nvSpPr>
          <p:cNvPr id="13" name="Text 11"/>
          <p:cNvSpPr/>
          <p:nvPr/>
        </p:nvSpPr>
        <p:spPr>
          <a:xfrm>
            <a:off x="6606540" y="3858768"/>
            <a:ext cx="18288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100% ad-free</a:t>
            </a:r>
            <a:endParaRPr lang="en-US" sz="1200" dirty="0"/>
          </a:p>
        </p:txBody>
      </p:sp>
      <p:sp>
        <p:nvSpPr>
          <p:cNvPr id="14" name="Text 12"/>
          <p:cNvSpPr/>
          <p:nvPr/>
        </p:nvSpPr>
        <p:spPr>
          <a:xfrm>
            <a:off x="457200" y="4480560"/>
            <a:ext cx="8229600" cy="320040"/>
          </a:xfrm>
          <a:prstGeom prst="rect">
            <a:avLst/>
          </a:prstGeom>
          <a:noFill/>
          <a:ln/>
        </p:spPr>
        <p:txBody>
          <a:bodyPr wrap="square" lIns="0" tIns="0" rIns="0" bIns="0" rtlCol="0" anchor="ctr"/>
          <a:lstStyle/>
          <a:p>
            <a:pPr algn="ctr" indent="0" marL="0">
              <a:buNone/>
            </a:pPr>
            <a:r>
              <a:rPr lang="en-US" sz="1400" i="1" dirty="0">
                <a:solidFill>
                  <a:srgbClr val="C4B5FD"/>
                </a:solidFill>
                <a:latin typeface="Calibri" pitchFamily="34" charset="0"/>
                <a:ea typeface="Calibri" pitchFamily="34" charset="-122"/>
                <a:cs typeface="Calibri" pitchFamily="34" charset="-120"/>
              </a:rPr>
              <a:t>kidvibers.com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820"/>
        </a:solidFill>
      </p:bgPr>
    </p:bg>
    <p:spTree>
      <p:nvGrpSpPr>
        <p:cNvPr id="1" name=""/>
        <p:cNvGrpSpPr/>
        <p:nvPr/>
      </p:nvGrpSpPr>
      <p:grpSpPr>
        <a:xfrm>
          <a:off x="0" y="0"/>
          <a:ext cx="0" cy="0"/>
          <a:chOff x="0" y="0"/>
          <a:chExt cx="0" cy="0"/>
        </a:xfrm>
      </p:grpSpPr>
      <p:sp>
        <p:nvSpPr>
          <p:cNvPr id="2" name="Text 0"/>
          <p:cNvSpPr/>
          <p:nvPr/>
        </p:nvSpPr>
        <p:spPr>
          <a:xfrm>
            <a:off x="411480" y="256032"/>
            <a:ext cx="832104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Problem with Coding for Kids</a:t>
            </a:r>
            <a:endParaRPr lang="en-US" sz="3000" dirty="0"/>
          </a:p>
        </p:txBody>
      </p:sp>
      <p:sp>
        <p:nvSpPr>
          <p:cNvPr id="3" name="Shape 1"/>
          <p:cNvSpPr/>
          <p:nvPr/>
        </p:nvSpPr>
        <p:spPr>
          <a:xfrm>
            <a:off x="2286000" y="896112"/>
            <a:ext cx="4572000" cy="822960"/>
          </a:xfrm>
          <a:prstGeom prst="roundRect">
            <a:avLst>
              <a:gd name="adj" fmla="val 13333"/>
            </a:avLst>
          </a:prstGeom>
          <a:solidFill>
            <a:srgbClr val="2D0A5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4" name="Text 2"/>
          <p:cNvSpPr/>
          <p:nvPr/>
        </p:nvSpPr>
        <p:spPr>
          <a:xfrm>
            <a:off x="2286000" y="896112"/>
            <a:ext cx="4572000" cy="822960"/>
          </a:xfrm>
          <a:prstGeom prst="rect">
            <a:avLst/>
          </a:prstGeom>
          <a:noFill/>
          <a:ln/>
        </p:spPr>
        <p:txBody>
          <a:bodyPr wrap="square" lIns="0" tIns="0" rIns="0" bIns="0" rtlCol="0" anchor="ctr"/>
          <a:lstStyle/>
          <a:p>
            <a:pPr algn="ctr" indent="0" marL="0">
              <a:buNone/>
            </a:pPr>
            <a:r>
              <a:rPr lang="en-US" sz="1500" b="1" i="1" dirty="0">
                <a:solidFill>
                  <a:srgbClr val="FBBF24"/>
                </a:solidFill>
                <a:latin typeface="Calibri" pitchFamily="34" charset="0"/>
                <a:ea typeface="Calibri" pitchFamily="34" charset="-122"/>
                <a:cs typeface="Calibri" pitchFamily="34" charset="-120"/>
              </a:rPr>
              <a:t>"Most kids quit coding apps within 2 weeks"</a:t>
            </a:r>
            <a:endParaRPr lang="en-US" sz="1500" dirty="0"/>
          </a:p>
        </p:txBody>
      </p:sp>
      <p:sp>
        <p:nvSpPr>
          <p:cNvPr id="5" name="Shape 3"/>
          <p:cNvSpPr/>
          <p:nvPr/>
        </p:nvSpPr>
        <p:spPr>
          <a:xfrm>
            <a:off x="274320" y="1828800"/>
            <a:ext cx="4114800" cy="2606040"/>
          </a:xfrm>
          <a:prstGeom prst="roundRect">
            <a:avLst>
              <a:gd name="adj" fmla="val 4211"/>
            </a:avLst>
          </a:prstGeom>
          <a:solidFill>
            <a:srgbClr val="1E10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6" name="Shape 4"/>
          <p:cNvSpPr/>
          <p:nvPr/>
        </p:nvSpPr>
        <p:spPr>
          <a:xfrm>
            <a:off x="4754880" y="1828800"/>
            <a:ext cx="4114800" cy="2606040"/>
          </a:xfrm>
          <a:prstGeom prst="roundRect">
            <a:avLst>
              <a:gd name="adj" fmla="val 4211"/>
            </a:avLst>
          </a:prstGeom>
          <a:solidFill>
            <a:srgbClr val="1E10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7" name="Text 5"/>
          <p:cNvSpPr/>
          <p:nvPr/>
        </p:nvSpPr>
        <p:spPr>
          <a:xfrm>
            <a:off x="274320" y="1874520"/>
            <a:ext cx="4114800" cy="347472"/>
          </a:xfrm>
          <a:prstGeom prst="rect">
            <a:avLst/>
          </a:prstGeom>
          <a:noFill/>
          <a:ln/>
        </p:spPr>
        <p:txBody>
          <a:bodyPr wrap="square" lIns="0" tIns="0" rIns="0" bIns="0" rtlCol="0" anchor="ctr"/>
          <a:lstStyle/>
          <a:p>
            <a:pPr algn="ctr" indent="0" marL="0">
              <a:buNone/>
            </a:pPr>
            <a:r>
              <a:rPr lang="en-US" sz="1300" b="1" dirty="0">
                <a:solidFill>
                  <a:srgbClr val="F472B6"/>
                </a:solidFill>
                <a:latin typeface="Calibri" pitchFamily="34" charset="0"/>
                <a:ea typeface="Calibri" pitchFamily="34" charset="-122"/>
                <a:cs typeface="Calibri" pitchFamily="34" charset="-120"/>
              </a:rPr>
              <a:t>😩 Why kids give up</a:t>
            </a:r>
            <a:endParaRPr lang="en-US" sz="1300" dirty="0"/>
          </a:p>
        </p:txBody>
      </p:sp>
      <p:sp>
        <p:nvSpPr>
          <p:cNvPr id="8" name="Text 6"/>
          <p:cNvSpPr/>
          <p:nvPr/>
        </p:nvSpPr>
        <p:spPr>
          <a:xfrm>
            <a:off x="4754880" y="1874520"/>
            <a:ext cx="4114800" cy="347472"/>
          </a:xfrm>
          <a:prstGeom prst="rect">
            <a:avLst/>
          </a:prstGeom>
          <a:noFill/>
          <a:ln/>
        </p:spPr>
        <p:txBody>
          <a:bodyPr wrap="square" lIns="0" tIns="0" rIns="0" bIns="0" rtlCol="0" anchor="ctr"/>
          <a:lstStyle/>
          <a:p>
            <a:pPr algn="ctr" indent="0" marL="0">
              <a:buNone/>
            </a:pPr>
            <a:r>
              <a:rPr lang="en-US" sz="1300" b="1" dirty="0">
                <a:solidFill>
                  <a:srgbClr val="F472B6"/>
                </a:solidFill>
                <a:latin typeface="Calibri" pitchFamily="34" charset="0"/>
                <a:ea typeface="Calibri" pitchFamily="34" charset="-122"/>
                <a:cs typeface="Calibri" pitchFamily="34" charset="-120"/>
              </a:rPr>
              <a:t>💸 The money problem</a:t>
            </a:r>
            <a:endParaRPr lang="en-US" sz="1300" dirty="0"/>
          </a:p>
        </p:txBody>
      </p:sp>
      <p:sp>
        <p:nvSpPr>
          <p:cNvPr id="9" name="Text 7"/>
          <p:cNvSpPr/>
          <p:nvPr/>
        </p:nvSpPr>
        <p:spPr>
          <a:xfrm>
            <a:off x="502920" y="2267712"/>
            <a:ext cx="3840480" cy="2084832"/>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C4B5FD"/>
                </a:solidFill>
                <a:latin typeface="Calibri" pitchFamily="34" charset="0"/>
                <a:ea typeface="Calibri" pitchFamily="34" charset="-122"/>
                <a:cs typeface="Calibri" pitchFamily="34" charset="-120"/>
              </a:rPr>
              <a:t>Lessons feel boring or too school-like</a:t>
            </a:r>
            <a:endParaRPr lang="en-US" sz="1300" dirty="0"/>
          </a:p>
          <a:p>
            <a:pPr marL="342900" indent="-342900">
              <a:spcAft>
                <a:spcPts val="800"/>
              </a:spcAft>
              <a:buSzPct val="100000"/>
              <a:buChar char="•"/>
            </a:pPr>
            <a:r>
              <a:rPr lang="en-US" sz="1300" dirty="0">
                <a:solidFill>
                  <a:srgbClr val="C4B5FD"/>
                </a:solidFill>
                <a:latin typeface="Calibri" pitchFamily="34" charset="0"/>
                <a:ea typeface="Calibri" pitchFamily="34" charset="-122"/>
                <a:cs typeface="Calibri" pitchFamily="34" charset="-120"/>
              </a:rPr>
              <a:t>Coding concepts are confusing and overwhelming</a:t>
            </a:r>
            <a:endParaRPr lang="en-US" sz="1300" dirty="0"/>
          </a:p>
          <a:p>
            <a:pPr marL="342900" indent="-342900">
              <a:spcAft>
                <a:spcPts val="800"/>
              </a:spcAft>
              <a:buSzPct val="100000"/>
              <a:buChar char="•"/>
            </a:pPr>
            <a:r>
              <a:rPr lang="en-US" sz="1300" dirty="0">
                <a:solidFill>
                  <a:srgbClr val="C4B5FD"/>
                </a:solidFill>
                <a:latin typeface="Calibri" pitchFamily="34" charset="0"/>
                <a:ea typeface="Calibri" pitchFamily="34" charset="-122"/>
                <a:cs typeface="Calibri" pitchFamily="34" charset="-120"/>
              </a:rPr>
              <a:t>Apps move too fast or too slow</a:t>
            </a:r>
            <a:endParaRPr lang="en-US" sz="1300" dirty="0"/>
          </a:p>
          <a:p>
            <a:pPr indent="0" marL="0">
              <a:buNone/>
            </a:pPr>
            <a:endParaRPr lang="en-US" sz="1300" dirty="0"/>
          </a:p>
        </p:txBody>
      </p:sp>
      <p:sp>
        <p:nvSpPr>
          <p:cNvPr id="10" name="Text 8"/>
          <p:cNvSpPr/>
          <p:nvPr/>
        </p:nvSpPr>
        <p:spPr>
          <a:xfrm>
            <a:off x="4983480" y="2267712"/>
            <a:ext cx="3840480" cy="2084832"/>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C4B5FD"/>
                </a:solidFill>
                <a:latin typeface="Calibri" pitchFamily="34" charset="0"/>
                <a:ea typeface="Calibri" pitchFamily="34" charset="-122"/>
                <a:cs typeface="Calibri" pitchFamily="34" charset="-120"/>
              </a:rPr>
              <a:t>Too much reading, not enough doing</a:t>
            </a:r>
            <a:endParaRPr lang="en-US" sz="1300" dirty="0"/>
          </a:p>
          <a:p>
            <a:pPr marL="342900" indent="-342900">
              <a:spcAft>
                <a:spcPts val="800"/>
              </a:spcAft>
              <a:buSzPct val="100000"/>
              <a:buChar char="•"/>
            </a:pPr>
            <a:r>
              <a:rPr lang="en-US" sz="1300" dirty="0">
                <a:solidFill>
                  <a:srgbClr val="C4B5FD"/>
                </a:solidFill>
                <a:latin typeface="Calibri" pitchFamily="34" charset="0"/>
                <a:ea typeface="Calibri" pitchFamily="34" charset="-122"/>
                <a:cs typeface="Calibri" pitchFamily="34" charset="-120"/>
              </a:rPr>
              <a:t>Kids lose motivation fast</a:t>
            </a:r>
            <a:endParaRPr lang="en-US" sz="1300" dirty="0"/>
          </a:p>
          <a:p>
            <a:pPr marL="342900" indent="-342900">
              <a:spcAft>
                <a:spcPts val="800"/>
              </a:spcAft>
              <a:buSzPct val="100000"/>
              <a:buChar char="•"/>
            </a:pPr>
            <a:r>
              <a:rPr lang="en-US" sz="1300" dirty="0">
                <a:solidFill>
                  <a:srgbClr val="C4B5FD"/>
                </a:solidFill>
                <a:latin typeface="Calibri" pitchFamily="34" charset="0"/>
                <a:ea typeface="Calibri" pitchFamily="34" charset="-122"/>
                <a:cs typeface="Calibri" pitchFamily="34" charset="-120"/>
              </a:rPr>
              <a:t>Popular apps cost $100+/yr or hide content behind paywalls</a:t>
            </a:r>
            <a:endParaRPr lang="en-US" sz="1300" dirty="0"/>
          </a:p>
          <a:p>
            <a:pPr indent="0" marL="0">
              <a:buNone/>
            </a:pP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0820"/>
        </a:solidFill>
      </p:bgPr>
    </p:bg>
    <p:spTree>
      <p:nvGrpSpPr>
        <p:cNvPr id="1" name=""/>
        <p:cNvGrpSpPr/>
        <p:nvPr/>
      </p:nvGrpSpPr>
      <p:grpSpPr>
        <a:xfrm>
          <a:off x="0" y="0"/>
          <a:ext cx="0" cy="0"/>
          <a:chOff x="0" y="0"/>
          <a:chExt cx="0" cy="0"/>
        </a:xfrm>
      </p:grpSpPr>
      <p:sp>
        <p:nvSpPr>
          <p:cNvPr id="2" name="Text 0"/>
          <p:cNvSpPr/>
          <p:nvPr/>
        </p:nvSpPr>
        <p:spPr>
          <a:xfrm>
            <a:off x="411480" y="256032"/>
            <a:ext cx="832104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Kids Actually Want</a:t>
            </a:r>
            <a:endParaRPr lang="en-US" sz="3000" dirty="0"/>
          </a:p>
        </p:txBody>
      </p:sp>
      <p:sp>
        <p:nvSpPr>
          <p:cNvPr id="3" name="Shape 1"/>
          <p:cNvSpPr/>
          <p:nvPr/>
        </p:nvSpPr>
        <p:spPr>
          <a:xfrm>
            <a:off x="274320" y="960120"/>
            <a:ext cx="1645920" cy="3200400"/>
          </a:xfrm>
          <a:prstGeom prst="roundRect">
            <a:avLst>
              <a:gd name="adj" fmla="val 6667"/>
            </a:avLst>
          </a:prstGeom>
          <a:solidFill>
            <a:srgbClr val="1E10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4" name="Text 2"/>
          <p:cNvSpPr/>
          <p:nvPr/>
        </p:nvSpPr>
        <p:spPr>
          <a:xfrm>
            <a:off x="274320" y="1097280"/>
            <a:ext cx="1645920" cy="82296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5" name="Text 3"/>
          <p:cNvSpPr/>
          <p:nvPr/>
        </p:nvSpPr>
        <p:spPr>
          <a:xfrm>
            <a:off x="274320" y="2011680"/>
            <a:ext cx="16459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Games</a:t>
            </a:r>
            <a:endParaRPr lang="en-US" sz="1300" dirty="0"/>
          </a:p>
        </p:txBody>
      </p:sp>
      <p:sp>
        <p:nvSpPr>
          <p:cNvPr id="6" name="Text 4"/>
          <p:cNvSpPr/>
          <p:nvPr/>
        </p:nvSpPr>
        <p:spPr>
          <a:xfrm>
            <a:off x="347472" y="2468880"/>
            <a:ext cx="1499616" cy="1600200"/>
          </a:xfrm>
          <a:prstGeom prst="rect">
            <a:avLst/>
          </a:prstGeom>
          <a:noFill/>
          <a:ln/>
        </p:spPr>
        <p:txBody>
          <a:bodyPr wrap="square" lIns="0" tIns="0" rIns="0" bIns="0" rtlCol="0" anchor="ctr"/>
          <a:lstStyle/>
          <a:p>
            <a:pPr algn="ctr" indent="0" marL="0">
              <a:buNone/>
            </a:pPr>
            <a:r>
              <a:rPr lang="en-US" sz="1100" dirty="0">
                <a:solidFill>
                  <a:srgbClr val="C4B5FD"/>
                </a:solidFill>
                <a:latin typeface="Calibri" pitchFamily="34" charset="0"/>
                <a:ea typeface="Calibri" pitchFamily="34" charset="-122"/>
                <a:cs typeface="Calibri" pitchFamily="34" charset="-120"/>
              </a:rPr>
              <a:t>Not textbooks or videos — kids want to play and create</a:t>
            </a:r>
            <a:endParaRPr lang="en-US" sz="1100" dirty="0"/>
          </a:p>
        </p:txBody>
      </p:sp>
      <p:sp>
        <p:nvSpPr>
          <p:cNvPr id="7" name="Shape 5"/>
          <p:cNvSpPr/>
          <p:nvPr/>
        </p:nvSpPr>
        <p:spPr>
          <a:xfrm>
            <a:off x="2011680" y="960120"/>
            <a:ext cx="1645920" cy="3200400"/>
          </a:xfrm>
          <a:prstGeom prst="roundRect">
            <a:avLst>
              <a:gd name="adj" fmla="val 6667"/>
            </a:avLst>
          </a:prstGeom>
          <a:solidFill>
            <a:srgbClr val="1E10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8" name="Text 6"/>
          <p:cNvSpPr/>
          <p:nvPr/>
        </p:nvSpPr>
        <p:spPr>
          <a:xfrm>
            <a:off x="2011680" y="1097280"/>
            <a:ext cx="1645920" cy="82296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9" name="Text 7"/>
          <p:cNvSpPr/>
          <p:nvPr/>
        </p:nvSpPr>
        <p:spPr>
          <a:xfrm>
            <a:off x="2011680" y="2011680"/>
            <a:ext cx="16459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Rewards</a:t>
            </a:r>
            <a:endParaRPr lang="en-US" sz="1300" dirty="0"/>
          </a:p>
        </p:txBody>
      </p:sp>
      <p:sp>
        <p:nvSpPr>
          <p:cNvPr id="10" name="Text 8"/>
          <p:cNvSpPr/>
          <p:nvPr/>
        </p:nvSpPr>
        <p:spPr>
          <a:xfrm>
            <a:off x="2084832" y="2468880"/>
            <a:ext cx="1499616" cy="1600200"/>
          </a:xfrm>
          <a:prstGeom prst="rect">
            <a:avLst/>
          </a:prstGeom>
          <a:noFill/>
          <a:ln/>
        </p:spPr>
        <p:txBody>
          <a:bodyPr wrap="square" lIns="0" tIns="0" rIns="0" bIns="0" rtlCol="0" anchor="ctr"/>
          <a:lstStyle/>
          <a:p>
            <a:pPr algn="ctr" indent="0" marL="0">
              <a:buNone/>
            </a:pPr>
            <a:r>
              <a:rPr lang="en-US" sz="1100" dirty="0">
                <a:solidFill>
                  <a:srgbClr val="C4B5FD"/>
                </a:solidFill>
                <a:latin typeface="Calibri" pitchFamily="34" charset="0"/>
                <a:ea typeface="Calibri" pitchFamily="34" charset="-122"/>
                <a:cs typeface="Calibri" pitchFamily="34" charset="-120"/>
              </a:rPr>
              <a:t>XP, badges, streaks — they keep coming back for more</a:t>
            </a:r>
            <a:endParaRPr lang="en-US" sz="1100" dirty="0"/>
          </a:p>
        </p:txBody>
      </p:sp>
      <p:sp>
        <p:nvSpPr>
          <p:cNvPr id="11" name="Shape 9"/>
          <p:cNvSpPr/>
          <p:nvPr/>
        </p:nvSpPr>
        <p:spPr>
          <a:xfrm>
            <a:off x="3749040" y="960120"/>
            <a:ext cx="1645920" cy="3200400"/>
          </a:xfrm>
          <a:prstGeom prst="roundRect">
            <a:avLst>
              <a:gd name="adj" fmla="val 6667"/>
            </a:avLst>
          </a:prstGeom>
          <a:solidFill>
            <a:srgbClr val="1E10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12" name="Text 10"/>
          <p:cNvSpPr/>
          <p:nvPr/>
        </p:nvSpPr>
        <p:spPr>
          <a:xfrm>
            <a:off x="3749040" y="1097280"/>
            <a:ext cx="1645920" cy="82296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13" name="Text 11"/>
          <p:cNvSpPr/>
          <p:nvPr/>
        </p:nvSpPr>
        <p:spPr>
          <a:xfrm>
            <a:off x="3749040" y="2011680"/>
            <a:ext cx="16459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Creativity</a:t>
            </a:r>
            <a:endParaRPr lang="en-US" sz="1300" dirty="0"/>
          </a:p>
        </p:txBody>
      </p:sp>
      <p:sp>
        <p:nvSpPr>
          <p:cNvPr id="14" name="Text 12"/>
          <p:cNvSpPr/>
          <p:nvPr/>
        </p:nvSpPr>
        <p:spPr>
          <a:xfrm>
            <a:off x="3822192" y="2468880"/>
            <a:ext cx="1499616" cy="1600200"/>
          </a:xfrm>
          <a:prstGeom prst="rect">
            <a:avLst/>
          </a:prstGeom>
          <a:noFill/>
          <a:ln/>
        </p:spPr>
        <p:txBody>
          <a:bodyPr wrap="square" lIns="0" tIns="0" rIns="0" bIns="0" rtlCol="0" anchor="ctr"/>
          <a:lstStyle/>
          <a:p>
            <a:pPr algn="ctr" indent="0" marL="0">
              <a:buNone/>
            </a:pPr>
            <a:r>
              <a:rPr lang="en-US" sz="1100" dirty="0">
                <a:solidFill>
                  <a:srgbClr val="C4B5FD"/>
                </a:solidFill>
                <a:latin typeface="Calibri" pitchFamily="34" charset="0"/>
                <a:ea typeface="Calibri" pitchFamily="34" charset="-122"/>
                <a:cs typeface="Calibri" pitchFamily="34" charset="-120"/>
              </a:rPr>
              <a:t>Build real things fast and show them off</a:t>
            </a:r>
            <a:endParaRPr lang="en-US" sz="1100" dirty="0"/>
          </a:p>
        </p:txBody>
      </p:sp>
      <p:sp>
        <p:nvSpPr>
          <p:cNvPr id="15" name="Shape 13"/>
          <p:cNvSpPr/>
          <p:nvPr/>
        </p:nvSpPr>
        <p:spPr>
          <a:xfrm>
            <a:off x="5486400" y="960120"/>
            <a:ext cx="1645920" cy="3200400"/>
          </a:xfrm>
          <a:prstGeom prst="roundRect">
            <a:avLst>
              <a:gd name="adj" fmla="val 6667"/>
            </a:avLst>
          </a:prstGeom>
          <a:solidFill>
            <a:srgbClr val="1E10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16" name="Text 14"/>
          <p:cNvSpPr/>
          <p:nvPr/>
        </p:nvSpPr>
        <p:spPr>
          <a:xfrm>
            <a:off x="5486400" y="1097280"/>
            <a:ext cx="1645920" cy="82296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17" name="Text 15"/>
          <p:cNvSpPr/>
          <p:nvPr/>
        </p:nvSpPr>
        <p:spPr>
          <a:xfrm>
            <a:off x="5486400" y="2011680"/>
            <a:ext cx="16459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Quick progress</a:t>
            </a:r>
            <a:endParaRPr lang="en-US" sz="1300" dirty="0"/>
          </a:p>
        </p:txBody>
      </p:sp>
      <p:sp>
        <p:nvSpPr>
          <p:cNvPr id="18" name="Text 16"/>
          <p:cNvSpPr/>
          <p:nvPr/>
        </p:nvSpPr>
        <p:spPr>
          <a:xfrm>
            <a:off x="5559552" y="2468880"/>
            <a:ext cx="1499616" cy="1600200"/>
          </a:xfrm>
          <a:prstGeom prst="rect">
            <a:avLst/>
          </a:prstGeom>
          <a:noFill/>
          <a:ln/>
        </p:spPr>
        <p:txBody>
          <a:bodyPr wrap="square" lIns="0" tIns="0" rIns="0" bIns="0" rtlCol="0" anchor="ctr"/>
          <a:lstStyle/>
          <a:p>
            <a:pPr algn="ctr" indent="0" marL="0">
              <a:buNone/>
            </a:pPr>
            <a:r>
              <a:rPr lang="en-US" sz="1100" dirty="0">
                <a:solidFill>
                  <a:srgbClr val="C4B5FD"/>
                </a:solidFill>
                <a:latin typeface="Calibri" pitchFamily="34" charset="0"/>
                <a:ea typeface="Calibri" pitchFamily="34" charset="-122"/>
                <a:cs typeface="Calibri" pitchFamily="34" charset="-120"/>
              </a:rPr>
              <a:t>Feel accomplished every single session</a:t>
            </a:r>
            <a:endParaRPr lang="en-US" sz="1100" dirty="0"/>
          </a:p>
        </p:txBody>
      </p:sp>
      <p:sp>
        <p:nvSpPr>
          <p:cNvPr id="19" name="Shape 17"/>
          <p:cNvSpPr/>
          <p:nvPr/>
        </p:nvSpPr>
        <p:spPr>
          <a:xfrm>
            <a:off x="7223760" y="960120"/>
            <a:ext cx="1645920" cy="3200400"/>
          </a:xfrm>
          <a:prstGeom prst="roundRect">
            <a:avLst>
              <a:gd name="adj" fmla="val 6667"/>
            </a:avLst>
          </a:prstGeom>
          <a:solidFill>
            <a:srgbClr val="1E10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20" name="Text 18"/>
          <p:cNvSpPr/>
          <p:nvPr/>
        </p:nvSpPr>
        <p:spPr>
          <a:xfrm>
            <a:off x="7223760" y="1097280"/>
            <a:ext cx="1645920" cy="82296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21" name="Text 19"/>
          <p:cNvSpPr/>
          <p:nvPr/>
        </p:nvSpPr>
        <p:spPr>
          <a:xfrm>
            <a:off x="7223760" y="2011680"/>
            <a:ext cx="16459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Beginner-friendly</a:t>
            </a:r>
            <a:endParaRPr lang="en-US" sz="1300" dirty="0"/>
          </a:p>
        </p:txBody>
      </p:sp>
      <p:sp>
        <p:nvSpPr>
          <p:cNvPr id="22" name="Text 20"/>
          <p:cNvSpPr/>
          <p:nvPr/>
        </p:nvSpPr>
        <p:spPr>
          <a:xfrm>
            <a:off x="7296912" y="2468880"/>
            <a:ext cx="1499616" cy="1600200"/>
          </a:xfrm>
          <a:prstGeom prst="rect">
            <a:avLst/>
          </a:prstGeom>
          <a:noFill/>
          <a:ln/>
        </p:spPr>
        <p:txBody>
          <a:bodyPr wrap="square" lIns="0" tIns="0" rIns="0" bIns="0" rtlCol="0" anchor="ctr"/>
          <a:lstStyle/>
          <a:p>
            <a:pPr algn="ctr" indent="0" marL="0">
              <a:buNone/>
            </a:pPr>
            <a:r>
              <a:rPr lang="en-US" sz="1100" dirty="0">
                <a:solidFill>
                  <a:srgbClr val="C4B5FD"/>
                </a:solidFill>
                <a:latin typeface="Calibri" pitchFamily="34" charset="0"/>
                <a:ea typeface="Calibri" pitchFamily="34" charset="-122"/>
                <a:cs typeface="Calibri" pitchFamily="34" charset="-120"/>
              </a:rPr>
              <a:t>No jargon, no confusion — just clarity and fun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820"/>
        </a:solidFill>
      </p:bgPr>
    </p:bg>
    <p:spTree>
      <p:nvGrpSpPr>
        <p:cNvPr id="1" name=""/>
        <p:cNvGrpSpPr/>
        <p:nvPr/>
      </p:nvGrpSpPr>
      <p:grpSpPr>
        <a:xfrm>
          <a:off x="0" y="0"/>
          <a:ext cx="0" cy="0"/>
          <a:chOff x="0" y="0"/>
          <a:chExt cx="0" cy="0"/>
        </a:xfrm>
      </p:grpSpPr>
      <p:sp>
        <p:nvSpPr>
          <p:cNvPr id="2" name="Text 0"/>
          <p:cNvSpPr/>
          <p:nvPr/>
        </p:nvSpPr>
        <p:spPr>
          <a:xfrm>
            <a:off x="411480" y="256032"/>
            <a:ext cx="832104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Introducing KidVibers</a:t>
            </a:r>
            <a:endParaRPr lang="en-US" sz="3000" dirty="0"/>
          </a:p>
        </p:txBody>
      </p:sp>
      <p:sp>
        <p:nvSpPr>
          <p:cNvPr id="3" name="Text 1"/>
          <p:cNvSpPr/>
          <p:nvPr/>
        </p:nvSpPr>
        <p:spPr>
          <a:xfrm>
            <a:off x="457200" y="868680"/>
            <a:ext cx="8229600" cy="594360"/>
          </a:xfrm>
          <a:prstGeom prst="rect">
            <a:avLst/>
          </a:prstGeom>
          <a:noFill/>
          <a:ln/>
        </p:spPr>
        <p:txBody>
          <a:bodyPr wrap="square" lIns="0" tIns="0" rIns="0" bIns="0" rtlCol="0" anchor="ctr"/>
          <a:lstStyle/>
          <a:p>
            <a:pPr algn="ctr" indent="0" marL="0">
              <a:buNone/>
            </a:pPr>
            <a:r>
              <a:rPr lang="en-US" sz="2200" b="1" i="1" dirty="0">
                <a:solidFill>
                  <a:srgbClr val="A78BFA"/>
                </a:solidFill>
                <a:latin typeface="Calibri" pitchFamily="34" charset="0"/>
                <a:ea typeface="Calibri" pitchFamily="34" charset="-122"/>
                <a:cs typeface="Calibri" pitchFamily="34" charset="-120"/>
              </a:rPr>
              <a:t>Coding that feels like a game — because it is</a:t>
            </a:r>
            <a:endParaRPr lang="en-US" sz="2200" dirty="0"/>
          </a:p>
        </p:txBody>
      </p:sp>
      <p:sp>
        <p:nvSpPr>
          <p:cNvPr id="4" name="Shape 2"/>
          <p:cNvSpPr/>
          <p:nvPr/>
        </p:nvSpPr>
        <p:spPr>
          <a:xfrm>
            <a:off x="228600" y="1572768"/>
            <a:ext cx="4114800" cy="960120"/>
          </a:xfrm>
          <a:prstGeom prst="roundRect">
            <a:avLst>
              <a:gd name="adj" fmla="val 11429"/>
            </a:avLst>
          </a:prstGeom>
          <a:solidFill>
            <a:srgbClr val="1E10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320040" y="1572768"/>
            <a:ext cx="731520" cy="96012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6" name="Text 4"/>
          <p:cNvSpPr/>
          <p:nvPr/>
        </p:nvSpPr>
        <p:spPr>
          <a:xfrm>
            <a:off x="1069848" y="1664208"/>
            <a:ext cx="315468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152 interactive lessons across 16 themed worlds</a:t>
            </a:r>
            <a:endParaRPr lang="en-US" sz="1300" dirty="0"/>
          </a:p>
        </p:txBody>
      </p:sp>
      <p:sp>
        <p:nvSpPr>
          <p:cNvPr id="7" name="Shape 5"/>
          <p:cNvSpPr/>
          <p:nvPr/>
        </p:nvSpPr>
        <p:spPr>
          <a:xfrm>
            <a:off x="4800600" y="1572768"/>
            <a:ext cx="4114800" cy="960120"/>
          </a:xfrm>
          <a:prstGeom prst="roundRect">
            <a:avLst>
              <a:gd name="adj" fmla="val 11429"/>
            </a:avLst>
          </a:prstGeom>
          <a:solidFill>
            <a:srgbClr val="1E10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8" name="Text 6"/>
          <p:cNvSpPr/>
          <p:nvPr/>
        </p:nvSpPr>
        <p:spPr>
          <a:xfrm>
            <a:off x="4892040" y="1572768"/>
            <a:ext cx="731520" cy="96012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9" name="Text 7"/>
          <p:cNvSpPr/>
          <p:nvPr/>
        </p:nvSpPr>
        <p:spPr>
          <a:xfrm>
            <a:off x="5641848" y="1664208"/>
            <a:ext cx="315468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Boss battles, XP, streaks, tokens &amp; avatar shop</a:t>
            </a:r>
            <a:endParaRPr lang="en-US" sz="1300" dirty="0"/>
          </a:p>
        </p:txBody>
      </p:sp>
      <p:sp>
        <p:nvSpPr>
          <p:cNvPr id="10" name="Shape 8"/>
          <p:cNvSpPr/>
          <p:nvPr/>
        </p:nvSpPr>
        <p:spPr>
          <a:xfrm>
            <a:off x="228600" y="2633472"/>
            <a:ext cx="4114800" cy="960120"/>
          </a:xfrm>
          <a:prstGeom prst="roundRect">
            <a:avLst>
              <a:gd name="adj" fmla="val 11429"/>
            </a:avLst>
          </a:prstGeom>
          <a:solidFill>
            <a:srgbClr val="1E10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11" name="Text 9"/>
          <p:cNvSpPr/>
          <p:nvPr/>
        </p:nvSpPr>
        <p:spPr>
          <a:xfrm>
            <a:off x="320040" y="2633472"/>
            <a:ext cx="731520" cy="96012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2" name="Text 10"/>
          <p:cNvSpPr/>
          <p:nvPr/>
        </p:nvSpPr>
        <p:spPr>
          <a:xfrm>
            <a:off x="1069848" y="2724912"/>
            <a:ext cx="315468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AI buddy "Byte" — gives hints, not answers</a:t>
            </a:r>
            <a:endParaRPr lang="en-US" sz="1300" dirty="0"/>
          </a:p>
        </p:txBody>
      </p:sp>
      <p:sp>
        <p:nvSpPr>
          <p:cNvPr id="13" name="Shape 11"/>
          <p:cNvSpPr/>
          <p:nvPr/>
        </p:nvSpPr>
        <p:spPr>
          <a:xfrm>
            <a:off x="4800600" y="2633472"/>
            <a:ext cx="4114800" cy="960120"/>
          </a:xfrm>
          <a:prstGeom prst="roundRect">
            <a:avLst>
              <a:gd name="adj" fmla="val 11429"/>
            </a:avLst>
          </a:prstGeom>
          <a:solidFill>
            <a:srgbClr val="1E10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14" name="Text 12"/>
          <p:cNvSpPr/>
          <p:nvPr/>
        </p:nvSpPr>
        <p:spPr>
          <a:xfrm>
            <a:off x="4892040" y="2633472"/>
            <a:ext cx="731520" cy="96012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5" name="Text 13"/>
          <p:cNvSpPr/>
          <p:nvPr/>
        </p:nvSpPr>
        <p:spPr>
          <a:xfrm>
            <a:off x="5641848" y="2724912"/>
            <a:ext cx="315468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100% ad-free · No toxic chat · Mandatory parent consent</a:t>
            </a:r>
            <a:endParaRPr lang="en-US" sz="1300" dirty="0"/>
          </a:p>
        </p:txBody>
      </p:sp>
      <p:sp>
        <p:nvSpPr>
          <p:cNvPr id="16" name="Shape 14"/>
          <p:cNvSpPr/>
          <p:nvPr/>
        </p:nvSpPr>
        <p:spPr>
          <a:xfrm>
            <a:off x="2286000" y="3749040"/>
            <a:ext cx="4572000" cy="566928"/>
          </a:xfrm>
          <a:prstGeom prst="roundRect">
            <a:avLst>
              <a:gd name="adj" fmla="val 19355"/>
            </a:avLst>
          </a:prstGeom>
          <a:solidFill>
            <a:srgbClr val="1E0A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17" name="Text 15"/>
          <p:cNvSpPr/>
          <p:nvPr/>
        </p:nvSpPr>
        <p:spPr>
          <a:xfrm>
            <a:off x="2286000" y="3749040"/>
            <a:ext cx="4572000" cy="566928"/>
          </a:xfrm>
          <a:prstGeom prst="rect">
            <a:avLst/>
          </a:prstGeom>
          <a:noFill/>
          <a:ln/>
        </p:spPr>
        <p:txBody>
          <a:bodyPr wrap="square" lIns="0" tIns="0" rIns="0" bIns="0" rtlCol="0" anchor="ctr"/>
          <a:lstStyle/>
          <a:p>
            <a:pPr algn="ctr" indent="0" marL="0">
              <a:buNone/>
            </a:pPr>
            <a:r>
              <a:rPr lang="en-US" sz="1600" b="1" dirty="0">
                <a:solidFill>
                  <a:srgbClr val="A78BFA"/>
                </a:solidFill>
                <a:latin typeface="Calibri" pitchFamily="34" charset="0"/>
                <a:ea typeface="Calibri" pitchFamily="34" charset="-122"/>
                <a:cs typeface="Calibri" pitchFamily="34" charset="-120"/>
              </a:rPr>
              <a:t>🌐  kidvibers.com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820"/>
        </a:solidFill>
      </p:bgPr>
    </p:bg>
    <p:spTree>
      <p:nvGrpSpPr>
        <p:cNvPr id="1" name=""/>
        <p:cNvGrpSpPr/>
        <p:nvPr/>
      </p:nvGrpSpPr>
      <p:grpSpPr>
        <a:xfrm>
          <a:off x="0" y="0"/>
          <a:ext cx="0" cy="0"/>
          <a:chOff x="0" y="0"/>
          <a:chExt cx="0" cy="0"/>
        </a:xfrm>
      </p:grpSpPr>
      <p:sp>
        <p:nvSpPr>
          <p:cNvPr id="2" name="Text 0"/>
          <p:cNvSpPr/>
          <p:nvPr/>
        </p:nvSpPr>
        <p:spPr>
          <a:xfrm>
            <a:off x="411480" y="256032"/>
            <a:ext cx="832104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How KidVibers Works</a:t>
            </a:r>
            <a:endParaRPr lang="en-US" sz="3000" dirty="0"/>
          </a:p>
        </p:txBody>
      </p:sp>
      <p:sp>
        <p:nvSpPr>
          <p:cNvPr id="3" name="Shape 1"/>
          <p:cNvSpPr/>
          <p:nvPr/>
        </p:nvSpPr>
        <p:spPr>
          <a:xfrm>
            <a:off x="274320" y="960120"/>
            <a:ext cx="2651760" cy="3108960"/>
          </a:xfrm>
          <a:prstGeom prst="roundRect">
            <a:avLst>
              <a:gd name="adj" fmla="val 4138"/>
            </a:avLst>
          </a:prstGeom>
          <a:solidFill>
            <a:srgbClr val="1E10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4" name="Shape 2"/>
          <p:cNvSpPr/>
          <p:nvPr/>
        </p:nvSpPr>
        <p:spPr>
          <a:xfrm>
            <a:off x="1325880" y="1005840"/>
            <a:ext cx="548640" cy="548640"/>
          </a:xfrm>
          <a:prstGeom prst="ellipse">
            <a:avLst/>
          </a:prstGeom>
          <a:solidFill>
            <a:srgbClr val="7C3AED"/>
          </a:solidFill>
          <a:ln w="12700">
            <a:solidFill>
              <a:srgbClr val="A78BFA"/>
            </a:solidFill>
            <a:prstDash val="solid"/>
          </a:ln>
        </p:spPr>
      </p:sp>
      <p:sp>
        <p:nvSpPr>
          <p:cNvPr id="5" name="Text 3"/>
          <p:cNvSpPr/>
          <p:nvPr/>
        </p:nvSpPr>
        <p:spPr>
          <a:xfrm>
            <a:off x="1325880" y="1005840"/>
            <a:ext cx="5486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6" name="Text 4"/>
          <p:cNvSpPr/>
          <p:nvPr/>
        </p:nvSpPr>
        <p:spPr>
          <a:xfrm>
            <a:off x="274320" y="1600200"/>
            <a:ext cx="2651760" cy="685800"/>
          </a:xfrm>
          <a:prstGeom prst="rect">
            <a:avLst/>
          </a:prstGeom>
          <a:noFill/>
          <a:ln/>
        </p:spPr>
        <p:txBody>
          <a:bodyPr wrap="square" lIns="0" tIns="0" rIns="0" bIns="0" rtlCol="0" anchor="ctr"/>
          <a:lstStyle/>
          <a:p>
            <a:pPr algn="ctr" indent="0" marL="0">
              <a:buNone/>
            </a:pPr>
            <a:r>
              <a:rPr lang="en-US" sz="3400" dirty="0">
                <a:solidFill>
                  <a:srgbClr val="000000"/>
                </a:solidFill>
              </a:rPr>
              <a:t>🌱</a:t>
            </a:r>
            <a:endParaRPr lang="en-US" sz="3400" dirty="0"/>
          </a:p>
        </p:txBody>
      </p:sp>
      <p:sp>
        <p:nvSpPr>
          <p:cNvPr id="7" name="Text 5"/>
          <p:cNvSpPr/>
          <p:nvPr/>
        </p:nvSpPr>
        <p:spPr>
          <a:xfrm>
            <a:off x="274320" y="2304288"/>
            <a:ext cx="2651760" cy="384048"/>
          </a:xfrm>
          <a:prstGeom prst="rect">
            <a:avLst/>
          </a:prstGeom>
          <a:noFill/>
          <a:ln/>
        </p:spPr>
        <p:txBody>
          <a:bodyPr wrap="square" lIns="0" tIns="0" rIns="0" bIns="0" rtlCol="0" anchor="ctr"/>
          <a:lstStyle/>
          <a:p>
            <a:pPr algn="ctr" indent="0" marL="0">
              <a:buNone/>
            </a:pPr>
            <a:r>
              <a:rPr lang="en-US" sz="1400" b="1" spc="200" kern="0" dirty="0">
                <a:solidFill>
                  <a:srgbClr val="F472B6"/>
                </a:solidFill>
                <a:latin typeface="Calibri" pitchFamily="34" charset="0"/>
                <a:ea typeface="Calibri" pitchFamily="34" charset="-122"/>
                <a:cs typeface="Calibri" pitchFamily="34" charset="-120"/>
              </a:rPr>
              <a:t>START</a:t>
            </a:r>
            <a:endParaRPr lang="en-US" sz="1400" dirty="0"/>
          </a:p>
        </p:txBody>
      </p:sp>
      <p:sp>
        <p:nvSpPr>
          <p:cNvPr id="8" name="Text 6"/>
          <p:cNvSpPr/>
          <p:nvPr/>
        </p:nvSpPr>
        <p:spPr>
          <a:xfrm>
            <a:off x="411480" y="2724912"/>
            <a:ext cx="2377440" cy="12344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C4B5FD"/>
                </a:solidFill>
                <a:latin typeface="Calibri" pitchFamily="34" charset="0"/>
                <a:ea typeface="Calibri" pitchFamily="34" charset="-122"/>
                <a:cs typeface="Calibri" pitchFamily="34" charset="-120"/>
              </a:rPr>
              <a:t>Pick your world</a:t>
            </a:r>
            <a:endParaRPr lang="en-US" sz="1200" dirty="0"/>
          </a:p>
          <a:p>
            <a:pPr marL="342900" indent="-342900">
              <a:spcAft>
                <a:spcPts val="600"/>
              </a:spcAft>
              <a:buSzPct val="100000"/>
              <a:buChar char="•"/>
            </a:pPr>
            <a:r>
              <a:rPr lang="en-US" sz="1200" dirty="0">
                <a:solidFill>
                  <a:srgbClr val="C4B5FD"/>
                </a:solidFill>
                <a:latin typeface="Calibri" pitchFamily="34" charset="0"/>
                <a:ea typeface="Calibri" pitchFamily="34" charset="-122"/>
                <a:cs typeface="Calibri" pitchFamily="34" charset="-120"/>
              </a:rPr>
              <a:t>Complete bite-sized lessons</a:t>
            </a:r>
            <a:endParaRPr lang="en-US" sz="1200" dirty="0"/>
          </a:p>
          <a:p>
            <a:pPr marL="342900" indent="-342900">
              <a:spcAft>
                <a:spcPts val="600"/>
              </a:spcAft>
              <a:buSzPct val="100000"/>
              <a:buChar char="•"/>
            </a:pPr>
            <a:r>
              <a:rPr lang="en-US" sz="1200" dirty="0">
                <a:solidFill>
                  <a:srgbClr val="C4B5FD"/>
                </a:solidFill>
                <a:latin typeface="Calibri" pitchFamily="34" charset="0"/>
                <a:ea typeface="Calibri" pitchFamily="34" charset="-122"/>
                <a:cs typeface="Calibri" pitchFamily="34" charset="-120"/>
              </a:rPr>
              <a:t>Run real code instantly</a:t>
            </a:r>
            <a:endParaRPr lang="en-US" sz="1200" dirty="0"/>
          </a:p>
        </p:txBody>
      </p:sp>
      <p:sp>
        <p:nvSpPr>
          <p:cNvPr id="9" name="Text 7"/>
          <p:cNvSpPr/>
          <p:nvPr/>
        </p:nvSpPr>
        <p:spPr>
          <a:xfrm>
            <a:off x="2907792" y="1691640"/>
            <a:ext cx="356616" cy="457200"/>
          </a:xfrm>
          <a:prstGeom prst="rect">
            <a:avLst/>
          </a:prstGeom>
          <a:noFill/>
          <a:ln/>
        </p:spPr>
        <p:txBody>
          <a:bodyPr wrap="square" lIns="0" tIns="0" rIns="0" bIns="0" rtlCol="0" anchor="ctr"/>
          <a:lstStyle/>
          <a:p>
            <a:pPr algn="ctr" indent="0" marL="0">
              <a:buNone/>
            </a:pPr>
            <a:r>
              <a:rPr lang="en-US" sz="2200" dirty="0">
                <a:solidFill>
                  <a:srgbClr val="A78BFA"/>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246120" y="960120"/>
            <a:ext cx="2651760" cy="3108960"/>
          </a:xfrm>
          <a:prstGeom prst="roundRect">
            <a:avLst>
              <a:gd name="adj" fmla="val 4138"/>
            </a:avLst>
          </a:prstGeom>
          <a:solidFill>
            <a:srgbClr val="1E10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11" name="Shape 9"/>
          <p:cNvSpPr/>
          <p:nvPr/>
        </p:nvSpPr>
        <p:spPr>
          <a:xfrm>
            <a:off x="4297680" y="1005840"/>
            <a:ext cx="548640" cy="548640"/>
          </a:xfrm>
          <a:prstGeom prst="ellipse">
            <a:avLst/>
          </a:prstGeom>
          <a:solidFill>
            <a:srgbClr val="7C3AED"/>
          </a:solidFill>
          <a:ln w="12700">
            <a:solidFill>
              <a:srgbClr val="A78BFA"/>
            </a:solidFill>
            <a:prstDash val="solid"/>
          </a:ln>
        </p:spPr>
      </p:sp>
      <p:sp>
        <p:nvSpPr>
          <p:cNvPr id="12" name="Text 10"/>
          <p:cNvSpPr/>
          <p:nvPr/>
        </p:nvSpPr>
        <p:spPr>
          <a:xfrm>
            <a:off x="4297680" y="1005840"/>
            <a:ext cx="5486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3" name="Text 11"/>
          <p:cNvSpPr/>
          <p:nvPr/>
        </p:nvSpPr>
        <p:spPr>
          <a:xfrm>
            <a:off x="3246120" y="1600200"/>
            <a:ext cx="2651760" cy="685800"/>
          </a:xfrm>
          <a:prstGeom prst="rect">
            <a:avLst/>
          </a:prstGeom>
          <a:noFill/>
          <a:ln/>
        </p:spPr>
        <p:txBody>
          <a:bodyPr wrap="square" lIns="0" tIns="0" rIns="0" bIns="0" rtlCol="0" anchor="ctr"/>
          <a:lstStyle/>
          <a:p>
            <a:pPr algn="ctr" indent="0" marL="0">
              <a:buNone/>
            </a:pPr>
            <a:r>
              <a:rPr lang="en-US" sz="3400" dirty="0">
                <a:solidFill>
                  <a:srgbClr val="000000"/>
                </a:solidFill>
              </a:rPr>
              <a:t>⚡</a:t>
            </a:r>
            <a:endParaRPr lang="en-US" sz="3400" dirty="0"/>
          </a:p>
        </p:txBody>
      </p:sp>
      <p:sp>
        <p:nvSpPr>
          <p:cNvPr id="14" name="Text 12"/>
          <p:cNvSpPr/>
          <p:nvPr/>
        </p:nvSpPr>
        <p:spPr>
          <a:xfrm>
            <a:off x="3246120" y="2304288"/>
            <a:ext cx="2651760" cy="384048"/>
          </a:xfrm>
          <a:prstGeom prst="rect">
            <a:avLst/>
          </a:prstGeom>
          <a:noFill/>
          <a:ln/>
        </p:spPr>
        <p:txBody>
          <a:bodyPr wrap="square" lIns="0" tIns="0" rIns="0" bIns="0" rtlCol="0" anchor="ctr"/>
          <a:lstStyle/>
          <a:p>
            <a:pPr algn="ctr" indent="0" marL="0">
              <a:buNone/>
            </a:pPr>
            <a:r>
              <a:rPr lang="en-US" sz="1400" b="1" spc="200" kern="0" dirty="0">
                <a:solidFill>
                  <a:srgbClr val="F472B6"/>
                </a:solidFill>
                <a:latin typeface="Calibri" pitchFamily="34" charset="0"/>
                <a:ea typeface="Calibri" pitchFamily="34" charset="-122"/>
                <a:cs typeface="Calibri" pitchFamily="34" charset="-120"/>
              </a:rPr>
              <a:t>LEVEL UP</a:t>
            </a:r>
            <a:endParaRPr lang="en-US" sz="1400" dirty="0"/>
          </a:p>
        </p:txBody>
      </p:sp>
      <p:sp>
        <p:nvSpPr>
          <p:cNvPr id="15" name="Text 13"/>
          <p:cNvSpPr/>
          <p:nvPr/>
        </p:nvSpPr>
        <p:spPr>
          <a:xfrm>
            <a:off x="3383280" y="2724912"/>
            <a:ext cx="2377440" cy="12344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C4B5FD"/>
                </a:solidFill>
                <a:latin typeface="Calibri" pitchFamily="34" charset="0"/>
                <a:ea typeface="Calibri" pitchFamily="34" charset="-122"/>
                <a:cs typeface="Calibri" pitchFamily="34" charset="-120"/>
              </a:rPr>
              <a:t>Earn XP &amp; tokens</a:t>
            </a:r>
            <a:endParaRPr lang="en-US" sz="1200" dirty="0"/>
          </a:p>
          <a:p>
            <a:pPr marL="342900" indent="-342900">
              <a:spcAft>
                <a:spcPts val="600"/>
              </a:spcAft>
              <a:buSzPct val="100000"/>
              <a:buChar char="•"/>
            </a:pPr>
            <a:r>
              <a:rPr lang="en-US" sz="1200" dirty="0">
                <a:solidFill>
                  <a:srgbClr val="C4B5FD"/>
                </a:solidFill>
                <a:latin typeface="Calibri" pitchFamily="34" charset="0"/>
                <a:ea typeface="Calibri" pitchFamily="34" charset="-122"/>
                <a:cs typeface="Calibri" pitchFamily="34" charset="-120"/>
              </a:rPr>
              <a:t>Beat boss battles</a:t>
            </a:r>
            <a:endParaRPr lang="en-US" sz="1200" dirty="0"/>
          </a:p>
          <a:p>
            <a:pPr marL="342900" indent="-342900">
              <a:spcAft>
                <a:spcPts val="600"/>
              </a:spcAft>
              <a:buSzPct val="100000"/>
              <a:buChar char="•"/>
            </a:pPr>
            <a:r>
              <a:rPr lang="en-US" sz="1200" dirty="0">
                <a:solidFill>
                  <a:srgbClr val="C4B5FD"/>
                </a:solidFill>
                <a:latin typeface="Calibri" pitchFamily="34" charset="0"/>
                <a:ea typeface="Calibri" pitchFamily="34" charset="-122"/>
                <a:cs typeface="Calibri" pitchFamily="34" charset="-120"/>
              </a:rPr>
              <a:t>Unlock new worlds</a:t>
            </a:r>
            <a:endParaRPr lang="en-US" sz="1200" dirty="0"/>
          </a:p>
        </p:txBody>
      </p:sp>
      <p:sp>
        <p:nvSpPr>
          <p:cNvPr id="16" name="Text 14"/>
          <p:cNvSpPr/>
          <p:nvPr/>
        </p:nvSpPr>
        <p:spPr>
          <a:xfrm>
            <a:off x="5879592" y="1691640"/>
            <a:ext cx="356616" cy="457200"/>
          </a:xfrm>
          <a:prstGeom prst="rect">
            <a:avLst/>
          </a:prstGeom>
          <a:noFill/>
          <a:ln/>
        </p:spPr>
        <p:txBody>
          <a:bodyPr wrap="square" lIns="0" tIns="0" rIns="0" bIns="0" rtlCol="0" anchor="ctr"/>
          <a:lstStyle/>
          <a:p>
            <a:pPr algn="ctr" indent="0" marL="0">
              <a:buNone/>
            </a:pPr>
            <a:r>
              <a:rPr lang="en-US" sz="2200" dirty="0">
                <a:solidFill>
                  <a:srgbClr val="A78BFA"/>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6217920" y="960120"/>
            <a:ext cx="2651760" cy="3108960"/>
          </a:xfrm>
          <a:prstGeom prst="roundRect">
            <a:avLst>
              <a:gd name="adj" fmla="val 4138"/>
            </a:avLst>
          </a:prstGeom>
          <a:solidFill>
            <a:srgbClr val="1E10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18" name="Shape 16"/>
          <p:cNvSpPr/>
          <p:nvPr/>
        </p:nvSpPr>
        <p:spPr>
          <a:xfrm>
            <a:off x="7269480" y="1005840"/>
            <a:ext cx="548640" cy="548640"/>
          </a:xfrm>
          <a:prstGeom prst="ellipse">
            <a:avLst/>
          </a:prstGeom>
          <a:solidFill>
            <a:srgbClr val="7C3AED"/>
          </a:solidFill>
          <a:ln w="12700">
            <a:solidFill>
              <a:srgbClr val="A78BFA"/>
            </a:solidFill>
            <a:prstDash val="solid"/>
          </a:ln>
        </p:spPr>
      </p:sp>
      <p:sp>
        <p:nvSpPr>
          <p:cNvPr id="19" name="Text 17"/>
          <p:cNvSpPr/>
          <p:nvPr/>
        </p:nvSpPr>
        <p:spPr>
          <a:xfrm>
            <a:off x="7269480" y="1005840"/>
            <a:ext cx="5486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0" name="Text 18"/>
          <p:cNvSpPr/>
          <p:nvPr/>
        </p:nvSpPr>
        <p:spPr>
          <a:xfrm>
            <a:off x="6217920" y="1600200"/>
            <a:ext cx="2651760" cy="685800"/>
          </a:xfrm>
          <a:prstGeom prst="rect">
            <a:avLst/>
          </a:prstGeom>
          <a:noFill/>
          <a:ln/>
        </p:spPr>
        <p:txBody>
          <a:bodyPr wrap="square" lIns="0" tIns="0" rIns="0" bIns="0" rtlCol="0" anchor="ctr"/>
          <a:lstStyle/>
          <a:p>
            <a:pPr algn="ctr" indent="0" marL="0">
              <a:buNone/>
            </a:pPr>
            <a:r>
              <a:rPr lang="en-US" sz="3400" dirty="0">
                <a:solidFill>
                  <a:srgbClr val="000000"/>
                </a:solidFill>
              </a:rPr>
              <a:t>🏗️</a:t>
            </a:r>
            <a:endParaRPr lang="en-US" sz="3400" dirty="0"/>
          </a:p>
        </p:txBody>
      </p:sp>
      <p:sp>
        <p:nvSpPr>
          <p:cNvPr id="21" name="Text 19"/>
          <p:cNvSpPr/>
          <p:nvPr/>
        </p:nvSpPr>
        <p:spPr>
          <a:xfrm>
            <a:off x="6217920" y="2304288"/>
            <a:ext cx="2651760" cy="384048"/>
          </a:xfrm>
          <a:prstGeom prst="rect">
            <a:avLst/>
          </a:prstGeom>
          <a:noFill/>
          <a:ln/>
        </p:spPr>
        <p:txBody>
          <a:bodyPr wrap="square" lIns="0" tIns="0" rIns="0" bIns="0" rtlCol="0" anchor="ctr"/>
          <a:lstStyle/>
          <a:p>
            <a:pPr algn="ctr" indent="0" marL="0">
              <a:buNone/>
            </a:pPr>
            <a:r>
              <a:rPr lang="en-US" sz="1400" b="1" spc="200" kern="0" dirty="0">
                <a:solidFill>
                  <a:srgbClr val="F472B6"/>
                </a:solidFill>
                <a:latin typeface="Calibri" pitchFamily="34" charset="0"/>
                <a:ea typeface="Calibri" pitchFamily="34" charset="-122"/>
                <a:cs typeface="Calibri" pitchFamily="34" charset="-120"/>
              </a:rPr>
              <a:t>BUILD</a:t>
            </a:r>
            <a:endParaRPr lang="en-US" sz="1400" dirty="0"/>
          </a:p>
        </p:txBody>
      </p:sp>
      <p:sp>
        <p:nvSpPr>
          <p:cNvPr id="22" name="Text 20"/>
          <p:cNvSpPr/>
          <p:nvPr/>
        </p:nvSpPr>
        <p:spPr>
          <a:xfrm>
            <a:off x="6355080" y="2724912"/>
            <a:ext cx="2377440" cy="12344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C4B5FD"/>
                </a:solidFill>
                <a:latin typeface="Calibri" pitchFamily="34" charset="0"/>
                <a:ea typeface="Calibri" pitchFamily="34" charset="-122"/>
                <a:cs typeface="Calibri" pitchFamily="34" charset="-120"/>
              </a:rPr>
              <a:t>Make games &amp; websites</a:t>
            </a:r>
            <a:endParaRPr lang="en-US" sz="1200" dirty="0"/>
          </a:p>
          <a:p>
            <a:pPr marL="342900" indent="-342900">
              <a:spcAft>
                <a:spcPts val="600"/>
              </a:spcAft>
              <a:buSzPct val="100000"/>
              <a:buChar char="•"/>
            </a:pPr>
            <a:r>
              <a:rPr lang="en-US" sz="1200" dirty="0">
                <a:solidFill>
                  <a:srgbClr val="C4B5FD"/>
                </a:solidFill>
                <a:latin typeface="Calibri" pitchFamily="34" charset="0"/>
                <a:ea typeface="Calibri" pitchFamily="34" charset="-122"/>
                <a:cs typeface="Calibri" pitchFamily="34" charset="-120"/>
              </a:rPr>
              <a:t>Build AI chatbots</a:t>
            </a:r>
            <a:endParaRPr lang="en-US" sz="1200" dirty="0"/>
          </a:p>
          <a:p>
            <a:pPr marL="342900" indent="-342900">
              <a:spcAft>
                <a:spcPts val="600"/>
              </a:spcAft>
              <a:buSzPct val="100000"/>
              <a:buChar char="•"/>
            </a:pPr>
            <a:r>
              <a:rPr lang="en-US" sz="1200" dirty="0">
                <a:solidFill>
                  <a:srgbClr val="C4B5FD"/>
                </a:solidFill>
                <a:latin typeface="Calibri" pitchFamily="34" charset="0"/>
                <a:ea typeface="Calibri" pitchFamily="34" charset="-122"/>
                <a:cs typeface="Calibri" pitchFamily="34" charset="-120"/>
              </a:rPr>
              <a:t>Create animations</a:t>
            </a:r>
            <a:endParaRPr lang="en-US" sz="1200" dirty="0"/>
          </a:p>
        </p:txBody>
      </p:sp>
      <p:sp>
        <p:nvSpPr>
          <p:cNvPr id="23" name="Text 21"/>
          <p:cNvSpPr/>
          <p:nvPr/>
        </p:nvSpPr>
        <p:spPr>
          <a:xfrm>
            <a:off x="457200" y="4224528"/>
            <a:ext cx="8229600" cy="347472"/>
          </a:xfrm>
          <a:prstGeom prst="rect">
            <a:avLst/>
          </a:prstGeom>
          <a:noFill/>
          <a:ln/>
        </p:spPr>
        <p:txBody>
          <a:bodyPr wrap="square" lIns="0" tIns="0" rIns="0" bIns="0" rtlCol="0" anchor="ctr"/>
          <a:lstStyle/>
          <a:p>
            <a:pPr algn="ctr" indent="0" marL="0">
              <a:buNone/>
            </a:pPr>
            <a:r>
              <a:rPr lang="en-US" sz="1200" b="1" i="1" dirty="0">
                <a:solidFill>
                  <a:srgbClr val="FBBF24"/>
                </a:solidFill>
                <a:latin typeface="Calibri" pitchFamily="34" charset="0"/>
                <a:ea typeface="Calibri" pitchFamily="34" charset="-122"/>
                <a:cs typeface="Calibri" pitchFamily="34" charset="-120"/>
              </a:rPr>
              <a:t>Kids learn Python AND JavaScript — two real, in-demand languages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0820"/>
        </a:solidFill>
      </p:bgPr>
    </p:bg>
    <p:spTree>
      <p:nvGrpSpPr>
        <p:cNvPr id="1" name=""/>
        <p:cNvGrpSpPr/>
        <p:nvPr/>
      </p:nvGrpSpPr>
      <p:grpSpPr>
        <a:xfrm>
          <a:off x="0" y="0"/>
          <a:ext cx="0" cy="0"/>
          <a:chOff x="0" y="0"/>
          <a:chExt cx="0" cy="0"/>
        </a:xfrm>
      </p:grpSpPr>
      <p:sp>
        <p:nvSpPr>
          <p:cNvPr id="2" name="Text 0"/>
          <p:cNvSpPr/>
          <p:nvPr/>
        </p:nvSpPr>
        <p:spPr>
          <a:xfrm>
            <a:off x="411480" y="256032"/>
            <a:ext cx="832104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16 Themed Worlds to Explore</a:t>
            </a:r>
            <a:endParaRPr lang="en-US" sz="3000" dirty="0"/>
          </a:p>
        </p:txBody>
      </p:sp>
      <p:sp>
        <p:nvSpPr>
          <p:cNvPr id="3" name="Shape 1"/>
          <p:cNvSpPr/>
          <p:nvPr/>
        </p:nvSpPr>
        <p:spPr>
          <a:xfrm>
            <a:off x="384048" y="960120"/>
            <a:ext cx="2011680" cy="640080"/>
          </a:xfrm>
          <a:prstGeom prst="roundRect">
            <a:avLst>
              <a:gd name="adj" fmla="val 17143"/>
            </a:avLst>
          </a:prstGeom>
          <a:solidFill>
            <a:srgbClr val="1E1040"/>
          </a:solidFill>
          <a:ln w="12700">
            <a:solidFill>
              <a:srgbClr val="3B1F6E"/>
            </a:solidFill>
            <a:prstDash val="solid"/>
          </a:ln>
        </p:spPr>
      </p:sp>
      <p:sp>
        <p:nvSpPr>
          <p:cNvPr id="4" name="Text 2"/>
          <p:cNvSpPr/>
          <p:nvPr/>
        </p:nvSpPr>
        <p:spPr>
          <a:xfrm>
            <a:off x="457200" y="960120"/>
            <a:ext cx="1901952" cy="6400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Greenwood Basics</a:t>
            </a:r>
            <a:endParaRPr lang="en-US" sz="1150" dirty="0"/>
          </a:p>
        </p:txBody>
      </p:sp>
      <p:sp>
        <p:nvSpPr>
          <p:cNvPr id="5" name="Shape 3"/>
          <p:cNvSpPr/>
          <p:nvPr/>
        </p:nvSpPr>
        <p:spPr>
          <a:xfrm>
            <a:off x="2505456" y="960120"/>
            <a:ext cx="2011680" cy="640080"/>
          </a:xfrm>
          <a:prstGeom prst="roundRect">
            <a:avLst>
              <a:gd name="adj" fmla="val 17143"/>
            </a:avLst>
          </a:prstGeom>
          <a:solidFill>
            <a:srgbClr val="1A0838"/>
          </a:solidFill>
          <a:ln w="12700">
            <a:solidFill>
              <a:srgbClr val="3B1F6E"/>
            </a:solidFill>
            <a:prstDash val="solid"/>
          </a:ln>
        </p:spPr>
      </p:sp>
      <p:sp>
        <p:nvSpPr>
          <p:cNvPr id="6" name="Text 4"/>
          <p:cNvSpPr/>
          <p:nvPr/>
        </p:nvSpPr>
        <p:spPr>
          <a:xfrm>
            <a:off x="2578608" y="960120"/>
            <a:ext cx="1901952" cy="6400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Builder's Bay</a:t>
            </a:r>
            <a:endParaRPr lang="en-US" sz="1150" dirty="0"/>
          </a:p>
        </p:txBody>
      </p:sp>
      <p:sp>
        <p:nvSpPr>
          <p:cNvPr id="7" name="Shape 5"/>
          <p:cNvSpPr/>
          <p:nvPr/>
        </p:nvSpPr>
        <p:spPr>
          <a:xfrm>
            <a:off x="4626864" y="960120"/>
            <a:ext cx="2011680" cy="640080"/>
          </a:xfrm>
          <a:prstGeom prst="roundRect">
            <a:avLst>
              <a:gd name="adj" fmla="val 17143"/>
            </a:avLst>
          </a:prstGeom>
          <a:solidFill>
            <a:srgbClr val="1E1040"/>
          </a:solidFill>
          <a:ln w="12700">
            <a:solidFill>
              <a:srgbClr val="3B1F6E"/>
            </a:solidFill>
            <a:prstDash val="solid"/>
          </a:ln>
        </p:spPr>
      </p:sp>
      <p:sp>
        <p:nvSpPr>
          <p:cNvPr id="8" name="Text 6"/>
          <p:cNvSpPr/>
          <p:nvPr/>
        </p:nvSpPr>
        <p:spPr>
          <a:xfrm>
            <a:off x="4700016" y="960120"/>
            <a:ext cx="1901952" cy="6400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Cosmic Code Station</a:t>
            </a:r>
            <a:endParaRPr lang="en-US" sz="1150" dirty="0"/>
          </a:p>
        </p:txBody>
      </p:sp>
      <p:sp>
        <p:nvSpPr>
          <p:cNvPr id="9" name="Shape 7"/>
          <p:cNvSpPr/>
          <p:nvPr/>
        </p:nvSpPr>
        <p:spPr>
          <a:xfrm>
            <a:off x="6748272" y="960120"/>
            <a:ext cx="2011680" cy="640080"/>
          </a:xfrm>
          <a:prstGeom prst="roundRect">
            <a:avLst>
              <a:gd name="adj" fmla="val 17143"/>
            </a:avLst>
          </a:prstGeom>
          <a:solidFill>
            <a:srgbClr val="1A0838"/>
          </a:solidFill>
          <a:ln w="12700">
            <a:solidFill>
              <a:srgbClr val="3B1F6E"/>
            </a:solidFill>
            <a:prstDash val="solid"/>
          </a:ln>
        </p:spPr>
      </p:sp>
      <p:sp>
        <p:nvSpPr>
          <p:cNvPr id="10" name="Text 8"/>
          <p:cNvSpPr/>
          <p:nvPr/>
        </p:nvSpPr>
        <p:spPr>
          <a:xfrm>
            <a:off x="6821424" y="960120"/>
            <a:ext cx="1901952" cy="6400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Algorithm Castle</a:t>
            </a:r>
            <a:endParaRPr lang="en-US" sz="1150" dirty="0"/>
          </a:p>
        </p:txBody>
      </p:sp>
      <p:sp>
        <p:nvSpPr>
          <p:cNvPr id="11" name="Shape 9"/>
          <p:cNvSpPr/>
          <p:nvPr/>
        </p:nvSpPr>
        <p:spPr>
          <a:xfrm>
            <a:off x="384048" y="1691640"/>
            <a:ext cx="2011680" cy="640080"/>
          </a:xfrm>
          <a:prstGeom prst="roundRect">
            <a:avLst>
              <a:gd name="adj" fmla="val 17143"/>
            </a:avLst>
          </a:prstGeom>
          <a:solidFill>
            <a:srgbClr val="1A0838"/>
          </a:solidFill>
          <a:ln w="12700">
            <a:solidFill>
              <a:srgbClr val="3B1F6E"/>
            </a:solidFill>
            <a:prstDash val="solid"/>
          </a:ln>
        </p:spPr>
      </p:sp>
      <p:sp>
        <p:nvSpPr>
          <p:cNvPr id="12" name="Text 10"/>
          <p:cNvSpPr/>
          <p:nvPr/>
        </p:nvSpPr>
        <p:spPr>
          <a:xfrm>
            <a:off x="457200" y="1691640"/>
            <a:ext cx="1901952" cy="6400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Game Arcade</a:t>
            </a:r>
            <a:endParaRPr lang="en-US" sz="1150" dirty="0"/>
          </a:p>
        </p:txBody>
      </p:sp>
      <p:sp>
        <p:nvSpPr>
          <p:cNvPr id="13" name="Shape 11"/>
          <p:cNvSpPr/>
          <p:nvPr/>
        </p:nvSpPr>
        <p:spPr>
          <a:xfrm>
            <a:off x="2505456" y="1691640"/>
            <a:ext cx="2011680" cy="640080"/>
          </a:xfrm>
          <a:prstGeom prst="roundRect">
            <a:avLst>
              <a:gd name="adj" fmla="val 17143"/>
            </a:avLst>
          </a:prstGeom>
          <a:solidFill>
            <a:srgbClr val="1E1040"/>
          </a:solidFill>
          <a:ln w="12700">
            <a:solidFill>
              <a:srgbClr val="3B1F6E"/>
            </a:solidFill>
            <a:prstDash val="solid"/>
          </a:ln>
        </p:spPr>
      </p:sp>
      <p:sp>
        <p:nvSpPr>
          <p:cNvPr id="14" name="Text 12"/>
          <p:cNvSpPr/>
          <p:nvPr/>
        </p:nvSpPr>
        <p:spPr>
          <a:xfrm>
            <a:off x="2578608" y="1691640"/>
            <a:ext cx="1901952" cy="6400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Web Wizard Woods</a:t>
            </a:r>
            <a:endParaRPr lang="en-US" sz="1150" dirty="0"/>
          </a:p>
        </p:txBody>
      </p:sp>
      <p:sp>
        <p:nvSpPr>
          <p:cNvPr id="15" name="Shape 13"/>
          <p:cNvSpPr/>
          <p:nvPr/>
        </p:nvSpPr>
        <p:spPr>
          <a:xfrm>
            <a:off x="4626864" y="1691640"/>
            <a:ext cx="2011680" cy="640080"/>
          </a:xfrm>
          <a:prstGeom prst="roundRect">
            <a:avLst>
              <a:gd name="adj" fmla="val 17143"/>
            </a:avLst>
          </a:prstGeom>
          <a:solidFill>
            <a:srgbClr val="1A0838"/>
          </a:solidFill>
          <a:ln w="12700">
            <a:solidFill>
              <a:srgbClr val="3B1F6E"/>
            </a:solidFill>
            <a:prstDash val="solid"/>
          </a:ln>
        </p:spPr>
      </p:sp>
      <p:sp>
        <p:nvSpPr>
          <p:cNvPr id="16" name="Text 14"/>
          <p:cNvSpPr/>
          <p:nvPr/>
        </p:nvSpPr>
        <p:spPr>
          <a:xfrm>
            <a:off x="4700016" y="1691640"/>
            <a:ext cx="1901952" cy="6400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JavaScript Junction</a:t>
            </a:r>
            <a:endParaRPr lang="en-US" sz="1150" dirty="0"/>
          </a:p>
        </p:txBody>
      </p:sp>
      <p:sp>
        <p:nvSpPr>
          <p:cNvPr id="17" name="Shape 15"/>
          <p:cNvSpPr/>
          <p:nvPr/>
        </p:nvSpPr>
        <p:spPr>
          <a:xfrm>
            <a:off x="6748272" y="1691640"/>
            <a:ext cx="2011680" cy="640080"/>
          </a:xfrm>
          <a:prstGeom prst="roundRect">
            <a:avLst>
              <a:gd name="adj" fmla="val 17143"/>
            </a:avLst>
          </a:prstGeom>
          <a:solidFill>
            <a:srgbClr val="1E1040"/>
          </a:solidFill>
          <a:ln w="12700">
            <a:solidFill>
              <a:srgbClr val="3B1F6E"/>
            </a:solidFill>
            <a:prstDash val="solid"/>
          </a:ln>
        </p:spPr>
      </p:sp>
      <p:sp>
        <p:nvSpPr>
          <p:cNvPr id="18" name="Text 16"/>
          <p:cNvSpPr/>
          <p:nvPr/>
        </p:nvSpPr>
        <p:spPr>
          <a:xfrm>
            <a:off x="6821424" y="1691640"/>
            <a:ext cx="1901952" cy="6400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AI Island</a:t>
            </a:r>
            <a:endParaRPr lang="en-US" sz="1150" dirty="0"/>
          </a:p>
        </p:txBody>
      </p:sp>
      <p:sp>
        <p:nvSpPr>
          <p:cNvPr id="19" name="Shape 17"/>
          <p:cNvSpPr/>
          <p:nvPr/>
        </p:nvSpPr>
        <p:spPr>
          <a:xfrm>
            <a:off x="384048" y="2423160"/>
            <a:ext cx="2011680" cy="640080"/>
          </a:xfrm>
          <a:prstGeom prst="roundRect">
            <a:avLst>
              <a:gd name="adj" fmla="val 17143"/>
            </a:avLst>
          </a:prstGeom>
          <a:solidFill>
            <a:srgbClr val="1E1040"/>
          </a:solidFill>
          <a:ln w="12700">
            <a:solidFill>
              <a:srgbClr val="3B1F6E"/>
            </a:solidFill>
            <a:prstDash val="solid"/>
          </a:ln>
        </p:spPr>
      </p:sp>
      <p:sp>
        <p:nvSpPr>
          <p:cNvPr id="20" name="Text 18"/>
          <p:cNvSpPr/>
          <p:nvPr/>
        </p:nvSpPr>
        <p:spPr>
          <a:xfrm>
            <a:off x="457200" y="2423160"/>
            <a:ext cx="1901952" cy="6400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Math Mountain</a:t>
            </a:r>
            <a:endParaRPr lang="en-US" sz="1150" dirty="0"/>
          </a:p>
        </p:txBody>
      </p:sp>
      <p:sp>
        <p:nvSpPr>
          <p:cNvPr id="21" name="Shape 19"/>
          <p:cNvSpPr/>
          <p:nvPr/>
        </p:nvSpPr>
        <p:spPr>
          <a:xfrm>
            <a:off x="2505456" y="2423160"/>
            <a:ext cx="2011680" cy="640080"/>
          </a:xfrm>
          <a:prstGeom prst="roundRect">
            <a:avLst>
              <a:gd name="adj" fmla="val 17143"/>
            </a:avLst>
          </a:prstGeom>
          <a:solidFill>
            <a:srgbClr val="1A0838"/>
          </a:solidFill>
          <a:ln w="12700">
            <a:solidFill>
              <a:srgbClr val="3B1F6E"/>
            </a:solidFill>
            <a:prstDash val="solid"/>
          </a:ln>
        </p:spPr>
      </p:sp>
      <p:sp>
        <p:nvSpPr>
          <p:cNvPr id="22" name="Text 20"/>
          <p:cNvSpPr/>
          <p:nvPr/>
        </p:nvSpPr>
        <p:spPr>
          <a:xfrm>
            <a:off x="2578608" y="2423160"/>
            <a:ext cx="1901952" cy="6400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Master's Summit</a:t>
            </a:r>
            <a:endParaRPr lang="en-US" sz="1150" dirty="0"/>
          </a:p>
        </p:txBody>
      </p:sp>
      <p:sp>
        <p:nvSpPr>
          <p:cNvPr id="23" name="Shape 21"/>
          <p:cNvSpPr/>
          <p:nvPr/>
        </p:nvSpPr>
        <p:spPr>
          <a:xfrm>
            <a:off x="4626864" y="2423160"/>
            <a:ext cx="2011680" cy="640080"/>
          </a:xfrm>
          <a:prstGeom prst="roundRect">
            <a:avLst>
              <a:gd name="adj" fmla="val 17143"/>
            </a:avLst>
          </a:prstGeom>
          <a:solidFill>
            <a:srgbClr val="1E1040"/>
          </a:solidFill>
          <a:ln w="12700">
            <a:solidFill>
              <a:srgbClr val="3B1F6E"/>
            </a:solidFill>
            <a:prstDash val="solid"/>
          </a:ln>
        </p:spPr>
      </p:sp>
      <p:sp>
        <p:nvSpPr>
          <p:cNvPr id="24" name="Text 22"/>
          <p:cNvSpPr/>
          <p:nvPr/>
        </p:nvSpPr>
        <p:spPr>
          <a:xfrm>
            <a:off x="4700016" y="2423160"/>
            <a:ext cx="1901952" cy="6400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Function Forge</a:t>
            </a:r>
            <a:endParaRPr lang="en-US" sz="1150" dirty="0"/>
          </a:p>
        </p:txBody>
      </p:sp>
      <p:sp>
        <p:nvSpPr>
          <p:cNvPr id="25" name="Shape 23"/>
          <p:cNvSpPr/>
          <p:nvPr/>
        </p:nvSpPr>
        <p:spPr>
          <a:xfrm>
            <a:off x="6748272" y="2423160"/>
            <a:ext cx="2011680" cy="640080"/>
          </a:xfrm>
          <a:prstGeom prst="roundRect">
            <a:avLst>
              <a:gd name="adj" fmla="val 17143"/>
            </a:avLst>
          </a:prstGeom>
          <a:solidFill>
            <a:srgbClr val="1A0838"/>
          </a:solidFill>
          <a:ln w="12700">
            <a:solidFill>
              <a:srgbClr val="3B1F6E"/>
            </a:solidFill>
            <a:prstDash val="solid"/>
          </a:ln>
        </p:spPr>
      </p:sp>
      <p:sp>
        <p:nvSpPr>
          <p:cNvPr id="26" name="Text 24"/>
          <p:cNvSpPr/>
          <p:nvPr/>
        </p:nvSpPr>
        <p:spPr>
          <a:xfrm>
            <a:off x="6821424" y="2423160"/>
            <a:ext cx="1901952" cy="6400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Data Structures Dojo</a:t>
            </a:r>
            <a:endParaRPr lang="en-US" sz="1150" dirty="0"/>
          </a:p>
        </p:txBody>
      </p:sp>
      <p:sp>
        <p:nvSpPr>
          <p:cNvPr id="27" name="Shape 25"/>
          <p:cNvSpPr/>
          <p:nvPr/>
        </p:nvSpPr>
        <p:spPr>
          <a:xfrm>
            <a:off x="384048" y="3154680"/>
            <a:ext cx="2011680" cy="640080"/>
          </a:xfrm>
          <a:prstGeom prst="roundRect">
            <a:avLst>
              <a:gd name="adj" fmla="val 17143"/>
            </a:avLst>
          </a:prstGeom>
          <a:solidFill>
            <a:srgbClr val="1A0838"/>
          </a:solidFill>
          <a:ln w="12700">
            <a:solidFill>
              <a:srgbClr val="3B1F6E"/>
            </a:solidFill>
            <a:prstDash val="solid"/>
          </a:ln>
        </p:spPr>
      </p:sp>
      <p:sp>
        <p:nvSpPr>
          <p:cNvPr id="28" name="Text 26"/>
          <p:cNvSpPr/>
          <p:nvPr/>
        </p:nvSpPr>
        <p:spPr>
          <a:xfrm>
            <a:off x="457200" y="3154680"/>
            <a:ext cx="1901952" cy="6400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Object Orbit</a:t>
            </a:r>
            <a:endParaRPr lang="en-US" sz="1150" dirty="0"/>
          </a:p>
        </p:txBody>
      </p:sp>
      <p:sp>
        <p:nvSpPr>
          <p:cNvPr id="29" name="Shape 27"/>
          <p:cNvSpPr/>
          <p:nvPr/>
        </p:nvSpPr>
        <p:spPr>
          <a:xfrm>
            <a:off x="2505456" y="3154680"/>
            <a:ext cx="2011680" cy="640080"/>
          </a:xfrm>
          <a:prstGeom prst="roundRect">
            <a:avLst>
              <a:gd name="adj" fmla="val 17143"/>
            </a:avLst>
          </a:prstGeom>
          <a:solidFill>
            <a:srgbClr val="1E1040"/>
          </a:solidFill>
          <a:ln w="12700">
            <a:solidFill>
              <a:srgbClr val="3B1F6E"/>
            </a:solidFill>
            <a:prstDash val="solid"/>
          </a:ln>
        </p:spPr>
      </p:sp>
      <p:sp>
        <p:nvSpPr>
          <p:cNvPr id="30" name="Text 28"/>
          <p:cNvSpPr/>
          <p:nvPr/>
        </p:nvSpPr>
        <p:spPr>
          <a:xfrm>
            <a:off x="2578608" y="3154680"/>
            <a:ext cx="1901952" cy="6400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Pro Coder Peak</a:t>
            </a:r>
            <a:endParaRPr lang="en-US" sz="1150" dirty="0"/>
          </a:p>
        </p:txBody>
      </p:sp>
      <p:sp>
        <p:nvSpPr>
          <p:cNvPr id="31" name="Shape 29"/>
          <p:cNvSpPr/>
          <p:nvPr/>
        </p:nvSpPr>
        <p:spPr>
          <a:xfrm>
            <a:off x="4626864" y="3154680"/>
            <a:ext cx="2011680" cy="640080"/>
          </a:xfrm>
          <a:prstGeom prst="roundRect">
            <a:avLst>
              <a:gd name="adj" fmla="val 17143"/>
            </a:avLst>
          </a:prstGeom>
          <a:solidFill>
            <a:srgbClr val="1A0838"/>
          </a:solidFill>
          <a:ln w="12700">
            <a:solidFill>
              <a:srgbClr val="3B1F6E"/>
            </a:solidFill>
            <a:prstDash val="solid"/>
          </a:ln>
        </p:spPr>
      </p:sp>
      <p:sp>
        <p:nvSpPr>
          <p:cNvPr id="32" name="Text 30"/>
          <p:cNvSpPr/>
          <p:nvPr/>
        </p:nvSpPr>
        <p:spPr>
          <a:xfrm>
            <a:off x="4700016" y="3154680"/>
            <a:ext cx="1901952" cy="6400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Spark Lab</a:t>
            </a:r>
            <a:endParaRPr lang="en-US" sz="1150" dirty="0"/>
          </a:p>
        </p:txBody>
      </p:sp>
      <p:sp>
        <p:nvSpPr>
          <p:cNvPr id="33" name="Shape 31"/>
          <p:cNvSpPr/>
          <p:nvPr/>
        </p:nvSpPr>
        <p:spPr>
          <a:xfrm>
            <a:off x="6748272" y="3154680"/>
            <a:ext cx="2011680" cy="640080"/>
          </a:xfrm>
          <a:prstGeom prst="roundRect">
            <a:avLst>
              <a:gd name="adj" fmla="val 17143"/>
            </a:avLst>
          </a:prstGeom>
          <a:solidFill>
            <a:srgbClr val="1E1040"/>
          </a:solidFill>
          <a:ln w="12700">
            <a:solidFill>
              <a:srgbClr val="3B1F6E"/>
            </a:solidFill>
            <a:prstDash val="solid"/>
          </a:ln>
        </p:spPr>
      </p:sp>
      <p:sp>
        <p:nvSpPr>
          <p:cNvPr id="34" name="Text 32"/>
          <p:cNvSpPr/>
          <p:nvPr/>
        </p:nvSpPr>
        <p:spPr>
          <a:xfrm>
            <a:off x="6821424" y="3154680"/>
            <a:ext cx="1901952" cy="6400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Capstone Quests</a:t>
            </a:r>
            <a:endParaRPr lang="en-US" sz="1150" dirty="0"/>
          </a:p>
        </p:txBody>
      </p:sp>
      <p:sp>
        <p:nvSpPr>
          <p:cNvPr id="35" name="Shape 33"/>
          <p:cNvSpPr/>
          <p:nvPr/>
        </p:nvSpPr>
        <p:spPr>
          <a:xfrm>
            <a:off x="457200" y="4526280"/>
            <a:ext cx="8229600" cy="411480"/>
          </a:xfrm>
          <a:prstGeom prst="roundRect">
            <a:avLst>
              <a:gd name="adj" fmla="val 26667"/>
            </a:avLst>
          </a:prstGeom>
          <a:solidFill>
            <a:srgbClr val="2D0A50"/>
          </a:solidFill>
          <a:ln w="12700">
            <a:solidFill>
              <a:srgbClr val="3B1F6E"/>
            </a:solidFill>
            <a:prstDash val="solid"/>
          </a:ln>
        </p:spPr>
      </p:sp>
      <p:sp>
        <p:nvSpPr>
          <p:cNvPr id="36" name="Text 34"/>
          <p:cNvSpPr/>
          <p:nvPr/>
        </p:nvSpPr>
        <p:spPr>
          <a:xfrm>
            <a:off x="457200" y="4526280"/>
            <a:ext cx="8229600" cy="411480"/>
          </a:xfrm>
          <a:prstGeom prst="rect">
            <a:avLst/>
          </a:prstGeom>
          <a:noFill/>
          <a:ln/>
        </p:spPr>
        <p:txBody>
          <a:bodyPr wrap="square" lIns="0" tIns="0" rIns="0" bIns="0" rtlCol="0" anchor="ctr"/>
          <a:lstStyle/>
          <a:p>
            <a:pPr algn="ctr" indent="0" marL="0">
              <a:buNone/>
            </a:pPr>
            <a:r>
              <a:rPr lang="en-US" sz="1200" b="1" dirty="0">
                <a:solidFill>
                  <a:srgbClr val="FBBF24"/>
                </a:solidFill>
                <a:latin typeface="Calibri" pitchFamily="34" charset="0"/>
                <a:ea typeface="Calibri" pitchFamily="34" charset="-122"/>
                <a:cs typeface="Calibri" pitchFamily="34" charset="-120"/>
              </a:rPr>
              <a:t>⚔️  Every world ends with a boss battle — kids prove what they learned before leveling up</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0820"/>
        </a:solidFill>
      </p:bgPr>
    </p:bg>
    <p:spTree>
      <p:nvGrpSpPr>
        <p:cNvPr id="1" name=""/>
        <p:cNvGrpSpPr/>
        <p:nvPr/>
      </p:nvGrpSpPr>
      <p:grpSpPr>
        <a:xfrm>
          <a:off x="0" y="0"/>
          <a:ext cx="0" cy="0"/>
          <a:chOff x="0" y="0"/>
          <a:chExt cx="0" cy="0"/>
        </a:xfrm>
      </p:grpSpPr>
      <p:sp>
        <p:nvSpPr>
          <p:cNvPr id="2" name="Text 0"/>
          <p:cNvSpPr/>
          <p:nvPr/>
        </p:nvSpPr>
        <p:spPr>
          <a:xfrm>
            <a:off x="411480" y="256032"/>
            <a:ext cx="832104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How We Compare</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28600" y="960120"/>
          <a:ext cx="8686800" cy="3200400"/>
        </p:xfrm>
        <a:graphic>
          <a:graphicData uri="http://schemas.openxmlformats.org/drawingml/2006/table">
            <a:tbl>
              <a:tblPr/>
              <a:tblGrid>
                <a:gridCol w="1600200"/>
                <a:gridCol w="777240"/>
                <a:gridCol w="1005840"/>
                <a:gridCol w="1051560"/>
                <a:gridCol w="914400"/>
                <a:gridCol w="868680"/>
                <a:gridCol w="1097280"/>
              </a:tblGrid>
              <a:tr h="47548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App</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7C3AE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Age fit</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7C3AE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Game-like</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7C3AE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Real code</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7C3AE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AI buddy</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7C3AE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Ad-free</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7C3AE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Price</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7C3AED"/>
                    </a:solidFill>
                  </a:tcPr>
                </a:tc>
              </a:tr>
              <a:tr h="56692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KidVibers ✓</a:t>
                      </a:r>
                      <a:endParaRPr lang="en-US" sz="12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2D0A5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6–16</a:t>
                      </a:r>
                      <a:endParaRPr lang="en-US" sz="12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2D0A5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2D0A5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Python + JS</a:t>
                      </a:r>
                      <a:endParaRPr lang="en-US" sz="12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2D0A5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Byte</a:t>
                      </a:r>
                      <a:endParaRPr lang="en-US" sz="12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2D0A5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Always</a:t>
                      </a:r>
                      <a:endParaRPr lang="en-US" sz="12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2D0A5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Free to start</a:t>
                      </a:r>
                      <a:endParaRPr lang="en-US" sz="12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2D0A50"/>
                    </a:solidFill>
                  </a:tcPr>
                </a:tc>
              </a:tr>
              <a:tr h="475488">
                <a:tc>
                  <a:txBody>
                    <a:bodyPr/>
                    <a:lstStyle/>
                    <a:p>
                      <a:pPr algn="ctr" indent="0" marL="0">
                        <a:buNone/>
                      </a:pPr>
                      <a:r>
                        <a:rPr lang="en-US" sz="1100" dirty="0">
                          <a:solidFill>
                            <a:srgbClr val="C4B5FD"/>
                          </a:solidFill>
                          <a:latin typeface="Calibri" pitchFamily="34" charset="0"/>
                          <a:ea typeface="Calibri" pitchFamily="34" charset="-122"/>
                          <a:cs typeface="Calibri" pitchFamily="34" charset="-120"/>
                        </a:rPr>
                        <a:t>Scratch</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6082A"/>
                    </a:solidFill>
                  </a:tcPr>
                </a:tc>
                <a:tc>
                  <a:txBody>
                    <a:bodyPr/>
                    <a:lstStyle/>
                    <a:p>
                      <a:pPr algn="ctr" indent="0" marL="0">
                        <a:buNone/>
                      </a:pPr>
                      <a:r>
                        <a:rPr lang="en-US" sz="1100" dirty="0">
                          <a:solidFill>
                            <a:srgbClr val="C4B5FD"/>
                          </a:solidFill>
                          <a:latin typeface="Calibri" pitchFamily="34" charset="0"/>
                          <a:ea typeface="Calibri" pitchFamily="34" charset="-122"/>
                          <a:cs typeface="Calibri" pitchFamily="34" charset="-120"/>
                        </a:rPr>
                        <a:t>8–16</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6082A"/>
                    </a:solidFill>
                  </a:tcPr>
                </a:tc>
                <a:tc>
                  <a:txBody>
                    <a:bodyPr/>
                    <a:lstStyle/>
                    <a:p>
                      <a:pPr algn="ctr" indent="0" marL="0">
                        <a:buNone/>
                      </a:pPr>
                      <a:r>
                        <a:rPr lang="en-US" sz="1100" dirty="0">
                          <a:solidFill>
                            <a:srgbClr val="C4B5FD"/>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6082A"/>
                    </a:solidFill>
                  </a:tcPr>
                </a:tc>
                <a:tc>
                  <a:txBody>
                    <a:bodyPr/>
                    <a:lstStyle/>
                    <a:p>
                      <a:pPr algn="ctr" indent="0" marL="0">
                        <a:buNone/>
                      </a:pPr>
                      <a:r>
                        <a:rPr lang="en-US" sz="1100" dirty="0">
                          <a:solidFill>
                            <a:srgbClr val="C4B5FD"/>
                          </a:solidFill>
                          <a:latin typeface="Calibri" pitchFamily="34" charset="0"/>
                          <a:ea typeface="Calibri" pitchFamily="34" charset="-122"/>
                          <a:cs typeface="Calibri" pitchFamily="34" charset="-120"/>
                        </a:rPr>
                        <a:t>Blocks only</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6082A"/>
                    </a:solidFill>
                  </a:tcPr>
                </a:tc>
                <a:tc>
                  <a:txBody>
                    <a:bodyPr/>
                    <a:lstStyle/>
                    <a:p>
                      <a:pPr algn="ctr" indent="0" marL="0">
                        <a:buNone/>
                      </a:pPr>
                      <a:r>
                        <a:rPr lang="en-US" sz="1100" dirty="0">
                          <a:solidFill>
                            <a:srgbClr val="F8717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6082A"/>
                    </a:solidFill>
                  </a:tcPr>
                </a:tc>
                <a:tc>
                  <a:txBody>
                    <a:bodyPr/>
                    <a:lstStyle/>
                    <a:p>
                      <a:pPr algn="ctr" indent="0" marL="0">
                        <a:buNone/>
                      </a:pPr>
                      <a:r>
                        <a:rPr lang="en-US" sz="1100" dirty="0">
                          <a:solidFill>
                            <a:srgbClr val="34D399"/>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6082A"/>
                    </a:solidFill>
                  </a:tcPr>
                </a:tc>
                <a:tc>
                  <a:txBody>
                    <a:bodyPr/>
                    <a:lstStyle/>
                    <a:p>
                      <a:pPr algn="ctr" indent="0" marL="0">
                        <a:buNone/>
                      </a:pPr>
                      <a:r>
                        <a:rPr lang="en-US" sz="1100" dirty="0">
                          <a:solidFill>
                            <a:srgbClr val="C4B5FD"/>
                          </a:solidFill>
                          <a:latin typeface="Calibri" pitchFamily="34" charset="0"/>
                          <a:ea typeface="Calibri" pitchFamily="34" charset="-122"/>
                          <a:cs typeface="Calibri" pitchFamily="34" charset="-120"/>
                        </a:rPr>
                        <a:t>Free</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6082A"/>
                    </a:solidFill>
                  </a:tcPr>
                </a:tc>
              </a:tr>
              <a:tr h="475488">
                <a:tc>
                  <a:txBody>
                    <a:bodyPr/>
                    <a:lstStyle/>
                    <a:p>
                      <a:pPr algn="ctr" indent="0" marL="0">
                        <a:buNone/>
                      </a:pPr>
                      <a:r>
                        <a:rPr lang="en-US" sz="1100" dirty="0">
                          <a:solidFill>
                            <a:srgbClr val="C4B5FD"/>
                          </a:solidFill>
                          <a:latin typeface="Calibri" pitchFamily="34" charset="0"/>
                          <a:ea typeface="Calibri" pitchFamily="34" charset="-122"/>
                          <a:cs typeface="Calibri" pitchFamily="34" charset="-120"/>
                        </a:rPr>
                        <a:t>Mimo</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E1040"/>
                    </a:solidFill>
                  </a:tcPr>
                </a:tc>
                <a:tc>
                  <a:txBody>
                    <a:bodyPr/>
                    <a:lstStyle/>
                    <a:p>
                      <a:pPr algn="ctr" indent="0" marL="0">
                        <a:buNone/>
                      </a:pPr>
                      <a:r>
                        <a:rPr lang="en-US" sz="1100" dirty="0">
                          <a:solidFill>
                            <a:srgbClr val="C4B5FD"/>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E1040"/>
                    </a:solidFill>
                  </a:tcPr>
                </a:tc>
                <a:tc>
                  <a:txBody>
                    <a:bodyPr/>
                    <a:lstStyle/>
                    <a:p>
                      <a:pPr algn="ctr" indent="0" marL="0">
                        <a:buNone/>
                      </a:pPr>
                      <a:r>
                        <a:rPr lang="en-US" sz="1100" dirty="0">
                          <a:solidFill>
                            <a:srgbClr val="C4B5FD"/>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E1040"/>
                    </a:solidFill>
                  </a:tcPr>
                </a:tc>
                <a:tc>
                  <a:txBody>
                    <a:bodyPr/>
                    <a:lstStyle/>
                    <a:p>
                      <a:pPr algn="ctr" indent="0" marL="0">
                        <a:buNone/>
                      </a:pPr>
                      <a:r>
                        <a:rPr lang="en-US" sz="1100" dirty="0">
                          <a:solidFill>
                            <a:srgbClr val="C4B5FD"/>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E1040"/>
                    </a:solidFill>
                  </a:tcPr>
                </a:tc>
                <a:tc>
                  <a:txBody>
                    <a:bodyPr/>
                    <a:lstStyle/>
                    <a:p>
                      <a:pPr algn="ctr" indent="0" marL="0">
                        <a:buNone/>
                      </a:pPr>
                      <a:r>
                        <a:rPr lang="en-US" sz="1100" dirty="0">
                          <a:solidFill>
                            <a:srgbClr val="F8717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E1040"/>
                    </a:solidFill>
                  </a:tcPr>
                </a:tc>
                <a:tc>
                  <a:txBody>
                    <a:bodyPr/>
                    <a:lstStyle/>
                    <a:p>
                      <a:pPr algn="ctr" indent="0" marL="0">
                        <a:buNone/>
                      </a:pPr>
                      <a:r>
                        <a:rPr lang="en-US" sz="1100" dirty="0">
                          <a:solidFill>
                            <a:srgbClr val="F8717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E1040"/>
                    </a:solidFill>
                  </a:tcPr>
                </a:tc>
                <a:tc>
                  <a:txBody>
                    <a:bodyPr/>
                    <a:lstStyle/>
                    <a:p>
                      <a:pPr algn="ctr" indent="0" marL="0">
                        <a:buNone/>
                      </a:pPr>
                      <a:r>
                        <a:rPr lang="en-US" sz="1100" dirty="0">
                          <a:solidFill>
                            <a:srgbClr val="C4B5FD"/>
                          </a:solidFill>
                          <a:latin typeface="Calibri" pitchFamily="34" charset="0"/>
                          <a:ea typeface="Calibri" pitchFamily="34" charset="-122"/>
                          <a:cs typeface="Calibri" pitchFamily="34" charset="-120"/>
                        </a:rPr>
                        <a:t>$9.99/mo</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E1040"/>
                    </a:solidFill>
                  </a:tcPr>
                </a:tc>
              </a:tr>
              <a:tr h="475488">
                <a:tc>
                  <a:txBody>
                    <a:bodyPr/>
                    <a:lstStyle/>
                    <a:p>
                      <a:pPr algn="ctr" indent="0" marL="0">
                        <a:buNone/>
                      </a:pPr>
                      <a:r>
                        <a:rPr lang="en-US" sz="1100" dirty="0">
                          <a:solidFill>
                            <a:srgbClr val="C4B5FD"/>
                          </a:solidFill>
                          <a:latin typeface="Calibri" pitchFamily="34" charset="0"/>
                          <a:ea typeface="Calibri" pitchFamily="34" charset="-122"/>
                          <a:cs typeface="Calibri" pitchFamily="34" charset="-120"/>
                        </a:rPr>
                        <a:t>Tynker</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6082A"/>
                    </a:solidFill>
                  </a:tcPr>
                </a:tc>
                <a:tc>
                  <a:txBody>
                    <a:bodyPr/>
                    <a:lstStyle/>
                    <a:p>
                      <a:pPr algn="ctr" indent="0" marL="0">
                        <a:buNone/>
                      </a:pPr>
                      <a:r>
                        <a:rPr lang="en-US" sz="1100" dirty="0">
                          <a:solidFill>
                            <a:srgbClr val="C4B5FD"/>
                          </a:solidFill>
                          <a:latin typeface="Calibri" pitchFamily="34" charset="0"/>
                          <a:ea typeface="Calibri" pitchFamily="34" charset="-122"/>
                          <a:cs typeface="Calibri" pitchFamily="34" charset="-120"/>
                        </a:rPr>
                        <a:t>7–18</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6082A"/>
                    </a:solidFill>
                  </a:tcPr>
                </a:tc>
                <a:tc>
                  <a:txBody>
                    <a:bodyPr/>
                    <a:lstStyle/>
                    <a:p>
                      <a:pPr algn="ctr" indent="0" marL="0">
                        <a:buNone/>
                      </a:pPr>
                      <a:r>
                        <a:rPr lang="en-US" sz="1100" dirty="0">
                          <a:solidFill>
                            <a:srgbClr val="C4B5FD"/>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6082A"/>
                    </a:solidFill>
                  </a:tcPr>
                </a:tc>
                <a:tc>
                  <a:txBody>
                    <a:bodyPr/>
                    <a:lstStyle/>
                    <a:p>
                      <a:pPr algn="ctr" indent="0" marL="0">
                        <a:buNone/>
                      </a:pPr>
                      <a:r>
                        <a:rPr lang="en-US" sz="1100" dirty="0">
                          <a:solidFill>
                            <a:srgbClr val="C4B5FD"/>
                          </a:solidFill>
                          <a:latin typeface="Calibri" pitchFamily="34" charset="0"/>
                          <a:ea typeface="Calibri" pitchFamily="34" charset="-122"/>
                          <a:cs typeface="Calibri" pitchFamily="34" charset="-120"/>
                        </a:rPr>
                        <a:t>Limited</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6082A"/>
                    </a:solidFill>
                  </a:tcPr>
                </a:tc>
                <a:tc>
                  <a:txBody>
                    <a:bodyPr/>
                    <a:lstStyle/>
                    <a:p>
                      <a:pPr algn="ctr" indent="0" marL="0">
                        <a:buNone/>
                      </a:pPr>
                      <a:r>
                        <a:rPr lang="en-US" sz="1100" dirty="0">
                          <a:solidFill>
                            <a:srgbClr val="F8717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6082A"/>
                    </a:solidFill>
                  </a:tcPr>
                </a:tc>
                <a:tc>
                  <a:txBody>
                    <a:bodyPr/>
                    <a:lstStyle/>
                    <a:p>
                      <a:pPr algn="ctr" indent="0" marL="0">
                        <a:buNone/>
                      </a:pPr>
                      <a:r>
                        <a:rPr lang="en-US" sz="1100" dirty="0">
                          <a:solidFill>
                            <a:srgbClr val="F8717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6082A"/>
                    </a:solidFill>
                  </a:tcPr>
                </a:tc>
                <a:tc>
                  <a:txBody>
                    <a:bodyPr/>
                    <a:lstStyle/>
                    <a:p>
                      <a:pPr algn="ctr" indent="0" marL="0">
                        <a:buNone/>
                      </a:pPr>
                      <a:r>
                        <a:rPr lang="en-US" sz="1100" dirty="0">
                          <a:solidFill>
                            <a:srgbClr val="C4B5FD"/>
                          </a:solidFill>
                          <a:latin typeface="Calibri" pitchFamily="34" charset="0"/>
                          <a:ea typeface="Calibri" pitchFamily="34" charset="-122"/>
                          <a:cs typeface="Calibri" pitchFamily="34" charset="-120"/>
                        </a:rPr>
                        <a:t>$15/mo</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6082A"/>
                    </a:solidFill>
                  </a:tcPr>
                </a:tc>
              </a:tr>
              <a:tr h="475488">
                <a:tc>
                  <a:txBody>
                    <a:bodyPr/>
                    <a:lstStyle/>
                    <a:p>
                      <a:pPr algn="ctr" indent="0" marL="0">
                        <a:buNone/>
                      </a:pPr>
                      <a:r>
                        <a:rPr lang="en-US" sz="1100" dirty="0">
                          <a:solidFill>
                            <a:srgbClr val="C4B5FD"/>
                          </a:solidFill>
                          <a:latin typeface="Calibri" pitchFamily="34" charset="0"/>
                          <a:ea typeface="Calibri" pitchFamily="34" charset="-122"/>
                          <a:cs typeface="Calibri" pitchFamily="34" charset="-120"/>
                        </a:rPr>
                        <a:t>Sololearn</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E1040"/>
                    </a:solidFill>
                  </a:tcPr>
                </a:tc>
                <a:tc>
                  <a:txBody>
                    <a:bodyPr/>
                    <a:lstStyle/>
                    <a:p>
                      <a:pPr algn="ctr" indent="0" marL="0">
                        <a:buNone/>
                      </a:pPr>
                      <a:r>
                        <a:rPr lang="en-US" sz="1100" dirty="0">
                          <a:solidFill>
                            <a:srgbClr val="C4B5FD"/>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E1040"/>
                    </a:solidFill>
                  </a:tcPr>
                </a:tc>
                <a:tc>
                  <a:txBody>
                    <a:bodyPr/>
                    <a:lstStyle/>
                    <a:p>
                      <a:pPr algn="ctr" indent="0" marL="0">
                        <a:buNone/>
                      </a:pPr>
                      <a:r>
                        <a:rPr lang="en-US" sz="1100" dirty="0">
                          <a:solidFill>
                            <a:srgbClr val="C4B5FD"/>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E1040"/>
                    </a:solidFill>
                  </a:tcPr>
                </a:tc>
                <a:tc>
                  <a:txBody>
                    <a:bodyPr/>
                    <a:lstStyle/>
                    <a:p>
                      <a:pPr algn="ctr" indent="0" marL="0">
                        <a:buNone/>
                      </a:pPr>
                      <a:r>
                        <a:rPr lang="en-US" sz="1100" dirty="0">
                          <a:solidFill>
                            <a:srgbClr val="C4B5FD"/>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E1040"/>
                    </a:solidFill>
                  </a:tcPr>
                </a:tc>
                <a:tc>
                  <a:txBody>
                    <a:bodyPr/>
                    <a:lstStyle/>
                    <a:p>
                      <a:pPr algn="ctr" indent="0" marL="0">
                        <a:buNone/>
                      </a:pPr>
                      <a:r>
                        <a:rPr lang="en-US" sz="1100" dirty="0">
                          <a:solidFill>
                            <a:srgbClr val="F8717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E1040"/>
                    </a:solidFill>
                  </a:tcPr>
                </a:tc>
                <a:tc>
                  <a:txBody>
                    <a:bodyPr/>
                    <a:lstStyle/>
                    <a:p>
                      <a:pPr algn="ctr" indent="0" marL="0">
                        <a:buNone/>
                      </a:pPr>
                      <a:r>
                        <a:rPr lang="en-US" sz="1100" dirty="0">
                          <a:solidFill>
                            <a:srgbClr val="F8717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E1040"/>
                    </a:solidFill>
                  </a:tcPr>
                </a:tc>
                <a:tc>
                  <a:txBody>
                    <a:bodyPr/>
                    <a:lstStyle/>
                    <a:p>
                      <a:pPr algn="ctr" indent="0" marL="0">
                        <a:buNone/>
                      </a:pPr>
                      <a:r>
                        <a:rPr lang="en-US" sz="1100" dirty="0">
                          <a:solidFill>
                            <a:srgbClr val="C4B5FD"/>
                          </a:solidFill>
                          <a:latin typeface="Calibri" pitchFamily="34" charset="0"/>
                          <a:ea typeface="Calibri" pitchFamily="34" charset="-122"/>
                          <a:cs typeface="Calibri" pitchFamily="34" charset="-120"/>
                        </a:rPr>
                        <a:t>$6.99/mo</a:t>
                      </a:r>
                      <a:endParaRPr lang="en-US" sz="1100" dirty="0">
                        <a:latin typeface="Calibri" charset="0"/>
                        <a:ea typeface="Calibri" charset="0"/>
                        <a:cs typeface="Calibri" charset="0"/>
                      </a:endParaRPr>
                    </a:p>
                  </a:txBody>
                  <a:tcPr marL="91440" marR="91440" marT="45720" marB="45720">
                    <a:lnL w="6350" cap="flat" cmpd="sng" algn="ctr">
                      <a:solidFill>
                        <a:srgbClr val="3B1F6E"/>
                      </a:solidFill>
                      <a:prstDash val="solid"/>
                      <a:round/>
                      <a:headEnd type="none" w="med" len="med"/>
                      <a:tailEnd type="none" w="med" len="med"/>
                    </a:lnL>
                    <a:lnR w="6350" cap="flat" cmpd="sng" algn="ctr">
                      <a:solidFill>
                        <a:srgbClr val="3B1F6E"/>
                      </a:solidFill>
                      <a:prstDash val="solid"/>
                      <a:round/>
                      <a:headEnd type="none" w="med" len="med"/>
                      <a:tailEnd type="none" w="med" len="med"/>
                    </a:lnR>
                    <a:lnT w="6350" cap="flat" cmpd="sng" algn="ctr">
                      <a:solidFill>
                        <a:srgbClr val="3B1F6E"/>
                      </a:solidFill>
                      <a:prstDash val="solid"/>
                      <a:round/>
                      <a:headEnd type="none" w="med" len="med"/>
                      <a:tailEnd type="none" w="med" len="med"/>
                    </a:lnT>
                    <a:lnB w="6350" cap="flat" cmpd="sng" algn="ctr">
                      <a:solidFill>
                        <a:srgbClr val="3B1F6E"/>
                      </a:solidFill>
                      <a:prstDash val="solid"/>
                      <a:round/>
                      <a:headEnd type="none" w="med" len="med"/>
                      <a:tailEnd type="none" w="med" len="med"/>
                    </a:lnB>
                    <a:solidFill>
                      <a:srgbClr val="1E1040"/>
                    </a:solidFill>
                  </a:tcPr>
                </a:tc>
              </a:tr>
            </a:tbl>
          </a:graphicData>
        </a:graphic>
      </p:graphicFrame>
      <p:sp>
        <p:nvSpPr>
          <p:cNvPr id="4" name="Shape 1"/>
          <p:cNvSpPr/>
          <p:nvPr/>
        </p:nvSpPr>
        <p:spPr>
          <a:xfrm>
            <a:off x="457200" y="4315968"/>
            <a:ext cx="8229600" cy="566928"/>
          </a:xfrm>
          <a:prstGeom prst="roundRect">
            <a:avLst>
              <a:gd name="adj" fmla="val 19355"/>
            </a:avLst>
          </a:prstGeom>
          <a:solidFill>
            <a:srgbClr val="2D0A50"/>
          </a:solidFill>
          <a:ln w="12700">
            <a:solidFill>
              <a:srgbClr val="3B1F6E"/>
            </a:solidFill>
            <a:prstDash val="solid"/>
          </a:ln>
        </p:spPr>
      </p:sp>
      <p:sp>
        <p:nvSpPr>
          <p:cNvPr id="5" name="Text 2"/>
          <p:cNvSpPr/>
          <p:nvPr/>
        </p:nvSpPr>
        <p:spPr>
          <a:xfrm>
            <a:off x="457200" y="4315968"/>
            <a:ext cx="8229600" cy="566928"/>
          </a:xfrm>
          <a:prstGeom prst="rect">
            <a:avLst/>
          </a:prstGeom>
          <a:noFill/>
          <a:ln/>
        </p:spPr>
        <p:txBody>
          <a:bodyPr wrap="square" lIns="0" tIns="0" rIns="0" bIns="0" rtlCol="0" anchor="ctr"/>
          <a:lstStyle/>
          <a:p>
            <a:pPr algn="ctr" indent="0" marL="0">
              <a:buNone/>
            </a:pPr>
            <a:r>
              <a:rPr lang="en-US" sz="1300" b="1" i="1" dirty="0">
                <a:solidFill>
                  <a:srgbClr val="FBBF24"/>
                </a:solidFill>
                <a:latin typeface="Calibri" pitchFamily="34" charset="0"/>
                <a:ea typeface="Calibri" pitchFamily="34" charset="-122"/>
                <a:cs typeface="Calibri" pitchFamily="34" charset="-120"/>
              </a:rPr>
              <a:t>🎯  Market gap: "A Duolingo-style coding app for ages 6–16." KidVibers fills it.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0820"/>
        </a:solidFill>
      </p:bgPr>
    </p:bg>
    <p:spTree>
      <p:nvGrpSpPr>
        <p:cNvPr id="1" name=""/>
        <p:cNvGrpSpPr/>
        <p:nvPr/>
      </p:nvGrpSpPr>
      <p:grpSpPr>
        <a:xfrm>
          <a:off x="0" y="0"/>
          <a:ext cx="0" cy="0"/>
          <a:chOff x="0" y="0"/>
          <a:chExt cx="0" cy="0"/>
        </a:xfrm>
      </p:grpSpPr>
      <p:sp>
        <p:nvSpPr>
          <p:cNvPr id="2" name="Text 0"/>
          <p:cNvSpPr/>
          <p:nvPr/>
        </p:nvSpPr>
        <p:spPr>
          <a:xfrm>
            <a:off x="411480" y="256032"/>
            <a:ext cx="832104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Perfect for Libraries &amp; Schools</a:t>
            </a:r>
            <a:endParaRPr lang="en-US" sz="3000" dirty="0"/>
          </a:p>
        </p:txBody>
      </p:sp>
      <p:sp>
        <p:nvSpPr>
          <p:cNvPr id="3" name="Text 1"/>
          <p:cNvSpPr/>
          <p:nvPr/>
        </p:nvSpPr>
        <p:spPr>
          <a:xfrm>
            <a:off x="228600" y="1005840"/>
            <a:ext cx="4069080" cy="365760"/>
          </a:xfrm>
          <a:prstGeom prst="rect">
            <a:avLst/>
          </a:prstGeom>
          <a:noFill/>
          <a:ln/>
        </p:spPr>
        <p:txBody>
          <a:bodyPr wrap="square" lIns="0" tIns="0" rIns="0" bIns="0" rtlCol="0" anchor="ctr"/>
          <a:lstStyle/>
          <a:p>
            <a:pPr algn="ctr" indent="0" marL="0">
              <a:buNone/>
            </a:pPr>
            <a:r>
              <a:rPr lang="en-US" sz="1300" b="1" dirty="0">
                <a:solidFill>
                  <a:srgbClr val="A78BFA"/>
                </a:solidFill>
                <a:latin typeface="Calibri" pitchFamily="34" charset="0"/>
                <a:ea typeface="Calibri" pitchFamily="34" charset="-122"/>
                <a:cs typeface="Calibri" pitchFamily="34" charset="-120"/>
              </a:rPr>
              <a:t>For Libraries &amp; Teachers</a:t>
            </a:r>
            <a:endParaRPr lang="en-US" sz="1300" dirty="0"/>
          </a:p>
        </p:txBody>
      </p:sp>
      <p:sp>
        <p:nvSpPr>
          <p:cNvPr id="4" name="Text 2"/>
          <p:cNvSpPr/>
          <p:nvPr/>
        </p:nvSpPr>
        <p:spPr>
          <a:xfrm>
            <a:off x="4846320" y="1005840"/>
            <a:ext cx="4069080" cy="365760"/>
          </a:xfrm>
          <a:prstGeom prst="rect">
            <a:avLst/>
          </a:prstGeom>
          <a:noFill/>
          <a:ln/>
        </p:spPr>
        <p:txBody>
          <a:bodyPr wrap="square" lIns="0" tIns="0" rIns="0" bIns="0" rtlCol="0" anchor="ctr"/>
          <a:lstStyle/>
          <a:p>
            <a:pPr algn="ctr" indent="0" marL="0">
              <a:buNone/>
            </a:pPr>
            <a:r>
              <a:rPr lang="en-US" sz="1300" b="1" dirty="0">
                <a:solidFill>
                  <a:srgbClr val="F472B6"/>
                </a:solidFill>
                <a:latin typeface="Calibri" pitchFamily="34" charset="0"/>
                <a:ea typeface="Calibri" pitchFamily="34" charset="-122"/>
                <a:cs typeface="Calibri" pitchFamily="34" charset="-120"/>
              </a:rPr>
              <a:t>For Students</a:t>
            </a:r>
            <a:endParaRPr lang="en-US" sz="1300" dirty="0"/>
          </a:p>
        </p:txBody>
      </p:sp>
      <p:sp>
        <p:nvSpPr>
          <p:cNvPr id="5" name="Shape 3"/>
          <p:cNvSpPr/>
          <p:nvPr/>
        </p:nvSpPr>
        <p:spPr>
          <a:xfrm>
            <a:off x="228600" y="1417320"/>
            <a:ext cx="4069080" cy="457200"/>
          </a:xfrm>
          <a:prstGeom prst="roundRect">
            <a:avLst>
              <a:gd name="adj" fmla="val 24000"/>
            </a:avLst>
          </a:prstGeom>
          <a:solidFill>
            <a:srgbClr val="1E1040"/>
          </a:solidFill>
          <a:ln w="12700">
            <a:solidFill>
              <a:srgbClr val="3B1F6E"/>
            </a:solidFill>
            <a:prstDash val="solid"/>
          </a:ln>
        </p:spPr>
      </p:sp>
      <p:sp>
        <p:nvSpPr>
          <p:cNvPr id="6" name="Text 4"/>
          <p:cNvSpPr/>
          <p:nvPr/>
        </p:nvSpPr>
        <p:spPr>
          <a:xfrm>
            <a:off x="274320" y="1417320"/>
            <a:ext cx="502920" cy="45720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7" name="Text 5"/>
          <p:cNvSpPr/>
          <p:nvPr/>
        </p:nvSpPr>
        <p:spPr>
          <a:xfrm>
            <a:off x="804672" y="1453896"/>
            <a:ext cx="3410712" cy="37490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Class code system — kids join in seconds</a:t>
            </a:r>
            <a:endParaRPr lang="en-US" sz="1200" dirty="0"/>
          </a:p>
        </p:txBody>
      </p:sp>
      <p:sp>
        <p:nvSpPr>
          <p:cNvPr id="8" name="Shape 6"/>
          <p:cNvSpPr/>
          <p:nvPr/>
        </p:nvSpPr>
        <p:spPr>
          <a:xfrm>
            <a:off x="228600" y="1929384"/>
            <a:ext cx="4069080" cy="457200"/>
          </a:xfrm>
          <a:prstGeom prst="roundRect">
            <a:avLst>
              <a:gd name="adj" fmla="val 24000"/>
            </a:avLst>
          </a:prstGeom>
          <a:solidFill>
            <a:srgbClr val="1E1040"/>
          </a:solidFill>
          <a:ln w="12700">
            <a:solidFill>
              <a:srgbClr val="3B1F6E"/>
            </a:solidFill>
            <a:prstDash val="solid"/>
          </a:ln>
        </p:spPr>
      </p:sp>
      <p:sp>
        <p:nvSpPr>
          <p:cNvPr id="9" name="Text 7"/>
          <p:cNvSpPr/>
          <p:nvPr/>
        </p:nvSpPr>
        <p:spPr>
          <a:xfrm>
            <a:off x="274320" y="1929384"/>
            <a:ext cx="502920" cy="45720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0" name="Text 8"/>
          <p:cNvSpPr/>
          <p:nvPr/>
        </p:nvSpPr>
        <p:spPr>
          <a:xfrm>
            <a:off x="804672" y="1965960"/>
            <a:ext cx="3410712" cy="37490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Teacher dashboard — see every student's progress</a:t>
            </a:r>
            <a:endParaRPr lang="en-US" sz="1200" dirty="0"/>
          </a:p>
        </p:txBody>
      </p:sp>
      <p:sp>
        <p:nvSpPr>
          <p:cNvPr id="11" name="Shape 9"/>
          <p:cNvSpPr/>
          <p:nvPr/>
        </p:nvSpPr>
        <p:spPr>
          <a:xfrm>
            <a:off x="228600" y="2441448"/>
            <a:ext cx="4069080" cy="457200"/>
          </a:xfrm>
          <a:prstGeom prst="roundRect">
            <a:avLst>
              <a:gd name="adj" fmla="val 24000"/>
            </a:avLst>
          </a:prstGeom>
          <a:solidFill>
            <a:srgbClr val="1E1040"/>
          </a:solidFill>
          <a:ln w="12700">
            <a:solidFill>
              <a:srgbClr val="3B1F6E"/>
            </a:solidFill>
            <a:prstDash val="solid"/>
          </a:ln>
        </p:spPr>
      </p:sp>
      <p:sp>
        <p:nvSpPr>
          <p:cNvPr id="12" name="Text 10"/>
          <p:cNvSpPr/>
          <p:nvPr/>
        </p:nvSpPr>
        <p:spPr>
          <a:xfrm>
            <a:off x="274320" y="2441448"/>
            <a:ext cx="502920" cy="45720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3" name="Text 11"/>
          <p:cNvSpPr/>
          <p:nvPr/>
        </p:nvSpPr>
        <p:spPr>
          <a:xfrm>
            <a:off x="804672" y="2478024"/>
            <a:ext cx="3410712" cy="37490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Safe by design — no ads, no DMs, no toxic chat</a:t>
            </a:r>
            <a:endParaRPr lang="en-US" sz="1200" dirty="0"/>
          </a:p>
        </p:txBody>
      </p:sp>
      <p:sp>
        <p:nvSpPr>
          <p:cNvPr id="14" name="Shape 12"/>
          <p:cNvSpPr/>
          <p:nvPr/>
        </p:nvSpPr>
        <p:spPr>
          <a:xfrm>
            <a:off x="228600" y="2953512"/>
            <a:ext cx="4069080" cy="457200"/>
          </a:xfrm>
          <a:prstGeom prst="roundRect">
            <a:avLst>
              <a:gd name="adj" fmla="val 24000"/>
            </a:avLst>
          </a:prstGeom>
          <a:solidFill>
            <a:srgbClr val="1E1040"/>
          </a:solidFill>
          <a:ln w="12700">
            <a:solidFill>
              <a:srgbClr val="3B1F6E"/>
            </a:solidFill>
            <a:prstDash val="solid"/>
          </a:ln>
        </p:spPr>
      </p:sp>
      <p:sp>
        <p:nvSpPr>
          <p:cNvPr id="15" name="Text 13"/>
          <p:cNvSpPr/>
          <p:nvPr/>
        </p:nvSpPr>
        <p:spPr>
          <a:xfrm>
            <a:off x="274320" y="2953512"/>
            <a:ext cx="502920" cy="45720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6" name="Text 14"/>
          <p:cNvSpPr/>
          <p:nvPr/>
        </p:nvSpPr>
        <p:spPr>
          <a:xfrm>
            <a:off x="804672" y="2990088"/>
            <a:ext cx="3410712" cy="37490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Mandatory parental consent for every student</a:t>
            </a:r>
            <a:endParaRPr lang="en-US" sz="1200" dirty="0"/>
          </a:p>
        </p:txBody>
      </p:sp>
      <p:sp>
        <p:nvSpPr>
          <p:cNvPr id="17" name="Shape 15"/>
          <p:cNvSpPr/>
          <p:nvPr/>
        </p:nvSpPr>
        <p:spPr>
          <a:xfrm>
            <a:off x="228600" y="3465576"/>
            <a:ext cx="4069080" cy="457200"/>
          </a:xfrm>
          <a:prstGeom prst="roundRect">
            <a:avLst>
              <a:gd name="adj" fmla="val 24000"/>
            </a:avLst>
          </a:prstGeom>
          <a:solidFill>
            <a:srgbClr val="1E1040"/>
          </a:solidFill>
          <a:ln w="12700">
            <a:solidFill>
              <a:srgbClr val="3B1F6E"/>
            </a:solidFill>
            <a:prstDash val="solid"/>
          </a:ln>
        </p:spPr>
      </p:sp>
      <p:sp>
        <p:nvSpPr>
          <p:cNvPr id="18" name="Text 16"/>
          <p:cNvSpPr/>
          <p:nvPr/>
        </p:nvSpPr>
        <p:spPr>
          <a:xfrm>
            <a:off x="274320" y="3465576"/>
            <a:ext cx="502920" cy="45720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9" name="Text 17"/>
          <p:cNvSpPr/>
          <p:nvPr/>
        </p:nvSpPr>
        <p:spPr>
          <a:xfrm>
            <a:off x="804672" y="3502152"/>
            <a:ext cx="3410712" cy="37490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152 lessons = months of programming content</a:t>
            </a:r>
            <a:endParaRPr lang="en-US" sz="1200" dirty="0"/>
          </a:p>
        </p:txBody>
      </p:sp>
      <p:sp>
        <p:nvSpPr>
          <p:cNvPr id="20" name="Shape 18"/>
          <p:cNvSpPr/>
          <p:nvPr/>
        </p:nvSpPr>
        <p:spPr>
          <a:xfrm>
            <a:off x="4846320" y="1417320"/>
            <a:ext cx="4069080" cy="457200"/>
          </a:xfrm>
          <a:prstGeom prst="roundRect">
            <a:avLst>
              <a:gd name="adj" fmla="val 24000"/>
            </a:avLst>
          </a:prstGeom>
          <a:solidFill>
            <a:srgbClr val="1E1040"/>
          </a:solidFill>
          <a:ln w="12700">
            <a:solidFill>
              <a:srgbClr val="3B1F6E"/>
            </a:solidFill>
            <a:prstDash val="solid"/>
          </a:ln>
        </p:spPr>
      </p:sp>
      <p:sp>
        <p:nvSpPr>
          <p:cNvPr id="21" name="Text 19"/>
          <p:cNvSpPr/>
          <p:nvPr/>
        </p:nvSpPr>
        <p:spPr>
          <a:xfrm>
            <a:off x="4892040" y="1417320"/>
            <a:ext cx="502920" cy="45720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22" name="Text 20"/>
          <p:cNvSpPr/>
          <p:nvPr/>
        </p:nvSpPr>
        <p:spPr>
          <a:xfrm>
            <a:off x="5422392" y="1453896"/>
            <a:ext cx="3410712" cy="37490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Free to start — no credit card needed</a:t>
            </a:r>
            <a:endParaRPr lang="en-US" sz="1200" dirty="0"/>
          </a:p>
        </p:txBody>
      </p:sp>
      <p:sp>
        <p:nvSpPr>
          <p:cNvPr id="23" name="Shape 21"/>
          <p:cNvSpPr/>
          <p:nvPr/>
        </p:nvSpPr>
        <p:spPr>
          <a:xfrm>
            <a:off x="4846320" y="1929384"/>
            <a:ext cx="4069080" cy="457200"/>
          </a:xfrm>
          <a:prstGeom prst="roundRect">
            <a:avLst>
              <a:gd name="adj" fmla="val 24000"/>
            </a:avLst>
          </a:prstGeom>
          <a:solidFill>
            <a:srgbClr val="1E1040"/>
          </a:solidFill>
          <a:ln w="12700">
            <a:solidFill>
              <a:srgbClr val="3B1F6E"/>
            </a:solidFill>
            <a:prstDash val="solid"/>
          </a:ln>
        </p:spPr>
      </p:sp>
      <p:sp>
        <p:nvSpPr>
          <p:cNvPr id="24" name="Text 22"/>
          <p:cNvSpPr/>
          <p:nvPr/>
        </p:nvSpPr>
        <p:spPr>
          <a:xfrm>
            <a:off x="4892040" y="1929384"/>
            <a:ext cx="502920" cy="45720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25" name="Text 23"/>
          <p:cNvSpPr/>
          <p:nvPr/>
        </p:nvSpPr>
        <p:spPr>
          <a:xfrm>
            <a:off x="5422392" y="1965960"/>
            <a:ext cx="3410712" cy="37490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First students get 30 days of Pro free</a:t>
            </a:r>
            <a:endParaRPr lang="en-US" sz="1200" dirty="0"/>
          </a:p>
        </p:txBody>
      </p:sp>
      <p:sp>
        <p:nvSpPr>
          <p:cNvPr id="26" name="Shape 24"/>
          <p:cNvSpPr/>
          <p:nvPr/>
        </p:nvSpPr>
        <p:spPr>
          <a:xfrm>
            <a:off x="4846320" y="2441448"/>
            <a:ext cx="4069080" cy="457200"/>
          </a:xfrm>
          <a:prstGeom prst="roundRect">
            <a:avLst>
              <a:gd name="adj" fmla="val 24000"/>
            </a:avLst>
          </a:prstGeom>
          <a:solidFill>
            <a:srgbClr val="1E1040"/>
          </a:solidFill>
          <a:ln w="12700">
            <a:solidFill>
              <a:srgbClr val="3B1F6E"/>
            </a:solidFill>
            <a:prstDash val="solid"/>
          </a:ln>
        </p:spPr>
      </p:sp>
      <p:sp>
        <p:nvSpPr>
          <p:cNvPr id="27" name="Text 25"/>
          <p:cNvSpPr/>
          <p:nvPr/>
        </p:nvSpPr>
        <p:spPr>
          <a:xfrm>
            <a:off x="4892040" y="2441448"/>
            <a:ext cx="502920" cy="45720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28" name="Text 26"/>
          <p:cNvSpPr/>
          <p:nvPr/>
        </p:nvSpPr>
        <p:spPr>
          <a:xfrm>
            <a:off x="5422392" y="2478024"/>
            <a:ext cx="3410712" cy="37490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Works on any device — phone, tablet, laptop</a:t>
            </a:r>
            <a:endParaRPr lang="en-US" sz="1200" dirty="0"/>
          </a:p>
        </p:txBody>
      </p:sp>
      <p:sp>
        <p:nvSpPr>
          <p:cNvPr id="29" name="Shape 27"/>
          <p:cNvSpPr/>
          <p:nvPr/>
        </p:nvSpPr>
        <p:spPr>
          <a:xfrm>
            <a:off x="4846320" y="2953512"/>
            <a:ext cx="4069080" cy="457200"/>
          </a:xfrm>
          <a:prstGeom prst="roundRect">
            <a:avLst>
              <a:gd name="adj" fmla="val 24000"/>
            </a:avLst>
          </a:prstGeom>
          <a:solidFill>
            <a:srgbClr val="1E1040"/>
          </a:solidFill>
          <a:ln w="12700">
            <a:solidFill>
              <a:srgbClr val="3B1F6E"/>
            </a:solidFill>
            <a:prstDash val="solid"/>
          </a:ln>
        </p:spPr>
      </p:sp>
      <p:sp>
        <p:nvSpPr>
          <p:cNvPr id="30" name="Text 28"/>
          <p:cNvSpPr/>
          <p:nvPr/>
        </p:nvSpPr>
        <p:spPr>
          <a:xfrm>
            <a:off x="4892040" y="2953512"/>
            <a:ext cx="502920" cy="45720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31" name="Text 29"/>
          <p:cNvSpPr/>
          <p:nvPr/>
        </p:nvSpPr>
        <p:spPr>
          <a:xfrm>
            <a:off x="5422392" y="2990088"/>
            <a:ext cx="3410712" cy="37490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Real Python &amp; JavaScript — college-ready skills</a:t>
            </a:r>
            <a:endParaRPr lang="en-US" sz="1200" dirty="0"/>
          </a:p>
        </p:txBody>
      </p:sp>
      <p:sp>
        <p:nvSpPr>
          <p:cNvPr id="32" name="Shape 30"/>
          <p:cNvSpPr/>
          <p:nvPr/>
        </p:nvSpPr>
        <p:spPr>
          <a:xfrm>
            <a:off x="4846320" y="3465576"/>
            <a:ext cx="4069080" cy="457200"/>
          </a:xfrm>
          <a:prstGeom prst="roundRect">
            <a:avLst>
              <a:gd name="adj" fmla="val 24000"/>
            </a:avLst>
          </a:prstGeom>
          <a:solidFill>
            <a:srgbClr val="1E1040"/>
          </a:solidFill>
          <a:ln w="12700">
            <a:solidFill>
              <a:srgbClr val="3B1F6E"/>
            </a:solidFill>
            <a:prstDash val="solid"/>
          </a:ln>
        </p:spPr>
      </p:sp>
      <p:sp>
        <p:nvSpPr>
          <p:cNvPr id="33" name="Text 31"/>
          <p:cNvSpPr/>
          <p:nvPr/>
        </p:nvSpPr>
        <p:spPr>
          <a:xfrm>
            <a:off x="4892040" y="3465576"/>
            <a:ext cx="502920" cy="45720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34" name="Text 32"/>
          <p:cNvSpPr/>
          <p:nvPr/>
        </p:nvSpPr>
        <p:spPr>
          <a:xfrm>
            <a:off x="5422392" y="3502152"/>
            <a:ext cx="3410712" cy="37490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Certificates when they complete worlds</a:t>
            </a:r>
            <a:endParaRPr lang="en-US" sz="1200" dirty="0"/>
          </a:p>
        </p:txBody>
      </p:sp>
      <p:sp>
        <p:nvSpPr>
          <p:cNvPr id="35" name="Shape 33"/>
          <p:cNvSpPr/>
          <p:nvPr/>
        </p:nvSpPr>
        <p:spPr>
          <a:xfrm>
            <a:off x="457200" y="4507992"/>
            <a:ext cx="8229600" cy="411480"/>
          </a:xfrm>
          <a:prstGeom prst="roundRect">
            <a:avLst>
              <a:gd name="adj" fmla="val 26667"/>
            </a:avLst>
          </a:prstGeom>
          <a:solidFill>
            <a:srgbClr val="2D0A50"/>
          </a:solidFill>
          <a:ln w="12700">
            <a:solidFill>
              <a:srgbClr val="3B1F6E"/>
            </a:solidFill>
            <a:prstDash val="solid"/>
          </a:ln>
        </p:spPr>
      </p:sp>
      <p:sp>
        <p:nvSpPr>
          <p:cNvPr id="36" name="Text 34"/>
          <p:cNvSpPr/>
          <p:nvPr/>
        </p:nvSpPr>
        <p:spPr>
          <a:xfrm>
            <a:off x="457200" y="4507992"/>
            <a:ext cx="8229600" cy="411480"/>
          </a:xfrm>
          <a:prstGeom prst="rect">
            <a:avLst/>
          </a:prstGeom>
          <a:noFill/>
          <a:ln/>
        </p:spPr>
        <p:txBody>
          <a:bodyPr wrap="square" lIns="0" tIns="0" rIns="0" bIns="0" rtlCol="0" anchor="ctr"/>
          <a:lstStyle/>
          <a:p>
            <a:pPr algn="ctr" indent="0" marL="0">
              <a:buNone/>
            </a:pPr>
            <a:r>
              <a:rPr lang="en-US" sz="1200" b="1" dirty="0">
                <a:solidFill>
                  <a:srgbClr val="FBBF24"/>
                </a:solidFill>
                <a:latin typeface="Calibri" pitchFamily="34" charset="0"/>
                <a:ea typeface="Calibri" pitchFamily="34" charset="-122"/>
                <a:cs typeface="Calibri" pitchFamily="34" charset="-120"/>
              </a:rPr>
              <a:t>✨  Demo accounts ready — try it right now at kidvibers.com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0820"/>
        </a:solidFill>
      </p:bgPr>
    </p:bg>
    <p:spTree>
      <p:nvGrpSpPr>
        <p:cNvPr id="1" name=""/>
        <p:cNvGrpSpPr/>
        <p:nvPr/>
      </p:nvGrpSpPr>
      <p:grpSpPr>
        <a:xfrm>
          <a:off x="0" y="0"/>
          <a:ext cx="0" cy="0"/>
          <a:chOff x="0" y="0"/>
          <a:chExt cx="0" cy="0"/>
        </a:xfrm>
      </p:grpSpPr>
      <p:sp>
        <p:nvSpPr>
          <p:cNvPr id="2" name="Text 0"/>
          <p:cNvSpPr/>
          <p:nvPr/>
        </p:nvSpPr>
        <p:spPr>
          <a:xfrm>
            <a:off x="411480" y="256032"/>
            <a:ext cx="832104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Safety First — Always</a:t>
            </a:r>
            <a:endParaRPr lang="en-US" sz="3000" dirty="0"/>
          </a:p>
        </p:txBody>
      </p:sp>
      <p:sp>
        <p:nvSpPr>
          <p:cNvPr id="3" name="Shape 1"/>
          <p:cNvSpPr/>
          <p:nvPr/>
        </p:nvSpPr>
        <p:spPr>
          <a:xfrm>
            <a:off x="228600" y="987552"/>
            <a:ext cx="4069080" cy="1828800"/>
          </a:xfrm>
          <a:prstGeom prst="roundRect">
            <a:avLst>
              <a:gd name="adj" fmla="val 6000"/>
            </a:avLst>
          </a:prstGeom>
          <a:solidFill>
            <a:srgbClr val="1E10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4" name="Text 2"/>
          <p:cNvSpPr/>
          <p:nvPr/>
        </p:nvSpPr>
        <p:spPr>
          <a:xfrm>
            <a:off x="365760" y="1170432"/>
            <a:ext cx="685800" cy="685800"/>
          </a:xfrm>
          <a:prstGeom prst="rect">
            <a:avLst/>
          </a:prstGeom>
          <a:noFill/>
          <a:ln/>
        </p:spPr>
        <p:txBody>
          <a:bodyPr wrap="square" lIns="0" tIns="0" rIns="0" bIns="0" rtlCol="0" anchor="ctr"/>
          <a:lstStyle/>
          <a:p>
            <a:pPr indent="0" marL="0">
              <a:buNone/>
            </a:pPr>
            <a:r>
              <a:rPr lang="en-US" sz="3200" dirty="0">
                <a:solidFill>
                  <a:srgbClr val="000000"/>
                </a:solidFill>
              </a:rPr>
              <a:t>🛡️</a:t>
            </a:r>
            <a:endParaRPr lang="en-US" sz="3200" dirty="0"/>
          </a:p>
        </p:txBody>
      </p:sp>
      <p:sp>
        <p:nvSpPr>
          <p:cNvPr id="5" name="Text 3"/>
          <p:cNvSpPr/>
          <p:nvPr/>
        </p:nvSpPr>
        <p:spPr>
          <a:xfrm>
            <a:off x="1051560" y="1170432"/>
            <a:ext cx="310896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COPPA-minded</a:t>
            </a:r>
            <a:endParaRPr lang="en-US" sz="1400" dirty="0"/>
          </a:p>
        </p:txBody>
      </p:sp>
      <p:sp>
        <p:nvSpPr>
          <p:cNvPr id="6" name="Text 4"/>
          <p:cNvSpPr/>
          <p:nvPr/>
        </p:nvSpPr>
        <p:spPr>
          <a:xfrm>
            <a:off x="365760" y="1645920"/>
            <a:ext cx="3794760" cy="1051560"/>
          </a:xfrm>
          <a:prstGeom prst="rect">
            <a:avLst/>
          </a:prstGeom>
          <a:noFill/>
          <a:ln/>
        </p:spPr>
        <p:txBody>
          <a:bodyPr wrap="square" lIns="0" tIns="0" rIns="0" bIns="0" rtlCol="0" anchor="ctr"/>
          <a:lstStyle/>
          <a:p>
            <a:pPr indent="0" marL="0">
              <a:buNone/>
            </a:pPr>
            <a:r>
              <a:rPr lang="en-US" sz="1200" dirty="0">
                <a:solidFill>
                  <a:srgbClr val="C4B5FD"/>
                </a:solidFill>
                <a:latin typeface="Calibri" pitchFamily="34" charset="0"/>
                <a:ea typeface="Calibri" pitchFamily="34" charset="-122"/>
                <a:cs typeface="Calibri" pitchFamily="34" charset="-120"/>
              </a:rPr>
              <a:t>Parental consent required for EVERY kid before they can play — not just under-13</a:t>
            </a:r>
            <a:endParaRPr lang="en-US" sz="1200" dirty="0"/>
          </a:p>
        </p:txBody>
      </p:sp>
      <p:sp>
        <p:nvSpPr>
          <p:cNvPr id="7" name="Shape 5"/>
          <p:cNvSpPr/>
          <p:nvPr/>
        </p:nvSpPr>
        <p:spPr>
          <a:xfrm>
            <a:off x="4846320" y="987552"/>
            <a:ext cx="4069080" cy="1828800"/>
          </a:xfrm>
          <a:prstGeom prst="roundRect">
            <a:avLst>
              <a:gd name="adj" fmla="val 6000"/>
            </a:avLst>
          </a:prstGeom>
          <a:solidFill>
            <a:srgbClr val="1E10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8" name="Text 6"/>
          <p:cNvSpPr/>
          <p:nvPr/>
        </p:nvSpPr>
        <p:spPr>
          <a:xfrm>
            <a:off x="4983480" y="1170432"/>
            <a:ext cx="685800" cy="685800"/>
          </a:xfrm>
          <a:prstGeom prst="rect">
            <a:avLst/>
          </a:prstGeom>
          <a:noFill/>
          <a:ln/>
        </p:spPr>
        <p:txBody>
          <a:bodyPr wrap="square" lIns="0" tIns="0" rIns="0" bIns="0" rtlCol="0" anchor="ctr"/>
          <a:lstStyle/>
          <a:p>
            <a:pPr indent="0" marL="0">
              <a:buNone/>
            </a:pPr>
            <a:r>
              <a:rPr lang="en-US" sz="3200" dirty="0">
                <a:solidFill>
                  <a:srgbClr val="000000"/>
                </a:solidFill>
              </a:rPr>
              <a:t>🚫</a:t>
            </a:r>
            <a:endParaRPr lang="en-US" sz="3200" dirty="0"/>
          </a:p>
        </p:txBody>
      </p:sp>
      <p:sp>
        <p:nvSpPr>
          <p:cNvPr id="9" name="Text 7"/>
          <p:cNvSpPr/>
          <p:nvPr/>
        </p:nvSpPr>
        <p:spPr>
          <a:xfrm>
            <a:off x="5669280" y="1170432"/>
            <a:ext cx="310896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Zero ads. Ever.</a:t>
            </a:r>
            <a:endParaRPr lang="en-US" sz="1400" dirty="0"/>
          </a:p>
        </p:txBody>
      </p:sp>
      <p:sp>
        <p:nvSpPr>
          <p:cNvPr id="10" name="Text 8"/>
          <p:cNvSpPr/>
          <p:nvPr/>
        </p:nvSpPr>
        <p:spPr>
          <a:xfrm>
            <a:off x="4983480" y="1645920"/>
            <a:ext cx="3794760" cy="1051560"/>
          </a:xfrm>
          <a:prstGeom prst="rect">
            <a:avLst/>
          </a:prstGeom>
          <a:noFill/>
          <a:ln/>
        </p:spPr>
        <p:txBody>
          <a:bodyPr wrap="square" lIns="0" tIns="0" rIns="0" bIns="0" rtlCol="0" anchor="ctr"/>
          <a:lstStyle/>
          <a:p>
            <a:pPr indent="0" marL="0">
              <a:buNone/>
            </a:pPr>
            <a:r>
              <a:rPr lang="en-US" sz="1200" dirty="0">
                <a:solidFill>
                  <a:srgbClr val="C4B5FD"/>
                </a:solidFill>
                <a:latin typeface="Calibri" pitchFamily="34" charset="0"/>
                <a:ea typeface="Calibri" pitchFamily="34" charset="-122"/>
                <a:cs typeface="Calibri" pitchFamily="34" charset="-120"/>
              </a:rPr>
              <a:t>No behavioral tracking, no data selling, no advertising. Period.</a:t>
            </a:r>
            <a:endParaRPr lang="en-US" sz="1200" dirty="0"/>
          </a:p>
        </p:txBody>
      </p:sp>
      <p:sp>
        <p:nvSpPr>
          <p:cNvPr id="11" name="Shape 9"/>
          <p:cNvSpPr/>
          <p:nvPr/>
        </p:nvSpPr>
        <p:spPr>
          <a:xfrm>
            <a:off x="228600" y="2852928"/>
            <a:ext cx="4069080" cy="1828800"/>
          </a:xfrm>
          <a:prstGeom prst="roundRect">
            <a:avLst>
              <a:gd name="adj" fmla="val 6000"/>
            </a:avLst>
          </a:prstGeom>
          <a:solidFill>
            <a:srgbClr val="1E10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12" name="Text 10"/>
          <p:cNvSpPr/>
          <p:nvPr/>
        </p:nvSpPr>
        <p:spPr>
          <a:xfrm>
            <a:off x="365760" y="3035808"/>
            <a:ext cx="685800" cy="685800"/>
          </a:xfrm>
          <a:prstGeom prst="rect">
            <a:avLst/>
          </a:prstGeom>
          <a:noFill/>
          <a:ln/>
        </p:spPr>
        <p:txBody>
          <a:bodyPr wrap="square" lIns="0" tIns="0" rIns="0" bIns="0" rtlCol="0" anchor="ctr"/>
          <a:lstStyle/>
          <a:p>
            <a:pPr indent="0" marL="0">
              <a:buNone/>
            </a:pPr>
            <a:r>
              <a:rPr lang="en-US" sz="3200" dirty="0">
                <a:solidFill>
                  <a:srgbClr val="000000"/>
                </a:solidFill>
              </a:rPr>
              <a:t>💬</a:t>
            </a:r>
            <a:endParaRPr lang="en-US" sz="3200" dirty="0"/>
          </a:p>
        </p:txBody>
      </p:sp>
      <p:sp>
        <p:nvSpPr>
          <p:cNvPr id="13" name="Text 11"/>
          <p:cNvSpPr/>
          <p:nvPr/>
        </p:nvSpPr>
        <p:spPr>
          <a:xfrm>
            <a:off x="1051560" y="3035808"/>
            <a:ext cx="310896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 private messaging</a:t>
            </a:r>
            <a:endParaRPr lang="en-US" sz="1400" dirty="0"/>
          </a:p>
        </p:txBody>
      </p:sp>
      <p:sp>
        <p:nvSpPr>
          <p:cNvPr id="14" name="Text 12"/>
          <p:cNvSpPr/>
          <p:nvPr/>
        </p:nvSpPr>
        <p:spPr>
          <a:xfrm>
            <a:off x="365760" y="3511296"/>
            <a:ext cx="3794760" cy="1051560"/>
          </a:xfrm>
          <a:prstGeom prst="rect">
            <a:avLst/>
          </a:prstGeom>
          <a:noFill/>
          <a:ln/>
        </p:spPr>
        <p:txBody>
          <a:bodyPr wrap="square" lIns="0" tIns="0" rIns="0" bIns="0" rtlCol="0" anchor="ctr"/>
          <a:lstStyle/>
          <a:p>
            <a:pPr indent="0" marL="0">
              <a:buNone/>
            </a:pPr>
            <a:r>
              <a:rPr lang="en-US" sz="1200" dirty="0">
                <a:solidFill>
                  <a:srgbClr val="C4B5FD"/>
                </a:solidFill>
                <a:latin typeface="Calibri" pitchFamily="34" charset="0"/>
                <a:ea typeface="Calibri" pitchFamily="34" charset="-122"/>
                <a:cs typeface="Calibri" pitchFamily="34" charset="-120"/>
              </a:rPr>
              <a:t>All community interaction happens in the open and is moderated by our team</a:t>
            </a:r>
            <a:endParaRPr lang="en-US" sz="1200" dirty="0"/>
          </a:p>
        </p:txBody>
      </p:sp>
      <p:sp>
        <p:nvSpPr>
          <p:cNvPr id="15" name="Shape 13"/>
          <p:cNvSpPr/>
          <p:nvPr/>
        </p:nvSpPr>
        <p:spPr>
          <a:xfrm>
            <a:off x="4846320" y="2852928"/>
            <a:ext cx="4069080" cy="1828800"/>
          </a:xfrm>
          <a:prstGeom prst="roundRect">
            <a:avLst>
              <a:gd name="adj" fmla="val 6000"/>
            </a:avLst>
          </a:prstGeom>
          <a:solidFill>
            <a:srgbClr val="1E10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16" name="Text 14"/>
          <p:cNvSpPr/>
          <p:nvPr/>
        </p:nvSpPr>
        <p:spPr>
          <a:xfrm>
            <a:off x="4983480" y="3035808"/>
            <a:ext cx="685800" cy="685800"/>
          </a:xfrm>
          <a:prstGeom prst="rect">
            <a:avLst/>
          </a:prstGeom>
          <a:noFill/>
          <a:ln/>
        </p:spPr>
        <p:txBody>
          <a:bodyPr wrap="square" lIns="0" tIns="0" rIns="0" bIns="0" rtlCol="0" anchor="ctr"/>
          <a:lstStyle/>
          <a:p>
            <a:pPr indent="0" marL="0">
              <a:buNone/>
            </a:pPr>
            <a:r>
              <a:rPr lang="en-US" sz="3200" dirty="0">
                <a:solidFill>
                  <a:srgbClr val="000000"/>
                </a:solidFill>
              </a:rPr>
              <a:t>🔒</a:t>
            </a:r>
            <a:endParaRPr lang="en-US" sz="3200" dirty="0"/>
          </a:p>
        </p:txBody>
      </p:sp>
      <p:sp>
        <p:nvSpPr>
          <p:cNvPr id="17" name="Text 15"/>
          <p:cNvSpPr/>
          <p:nvPr/>
        </p:nvSpPr>
        <p:spPr>
          <a:xfrm>
            <a:off x="5669280" y="3035808"/>
            <a:ext cx="310896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Enterprise security</a:t>
            </a:r>
            <a:endParaRPr lang="en-US" sz="1400" dirty="0"/>
          </a:p>
        </p:txBody>
      </p:sp>
      <p:sp>
        <p:nvSpPr>
          <p:cNvPr id="18" name="Text 16"/>
          <p:cNvSpPr/>
          <p:nvPr/>
        </p:nvSpPr>
        <p:spPr>
          <a:xfrm>
            <a:off x="4983480" y="3511296"/>
            <a:ext cx="3794760" cy="1051560"/>
          </a:xfrm>
          <a:prstGeom prst="rect">
            <a:avLst/>
          </a:prstGeom>
          <a:noFill/>
          <a:ln/>
        </p:spPr>
        <p:txBody>
          <a:bodyPr wrap="square" lIns="0" tIns="0" rIns="0" bIns="0" rtlCol="0" anchor="ctr"/>
          <a:lstStyle/>
          <a:p>
            <a:pPr indent="0" marL="0">
              <a:buNone/>
            </a:pPr>
            <a:r>
              <a:rPr lang="en-US" sz="1200" dirty="0">
                <a:solidFill>
                  <a:srgbClr val="C4B5FD"/>
                </a:solidFill>
                <a:latin typeface="Calibri" pitchFamily="34" charset="0"/>
                <a:ea typeface="Calibri" pitchFamily="34" charset="-122"/>
                <a:cs typeface="Calibri" pitchFamily="34" charset="-120"/>
              </a:rPr>
              <a:t>HTTPS everywhere, hashed passwords, rate limiting, strict Content Security Policy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0820"/>
        </a:solidFill>
      </p:bgPr>
    </p:bg>
    <p:spTree>
      <p:nvGrpSpPr>
        <p:cNvPr id="1" name=""/>
        <p:cNvGrpSpPr/>
        <p:nvPr/>
      </p:nvGrpSpPr>
      <p:grpSpPr>
        <a:xfrm>
          <a:off x="0" y="0"/>
          <a:ext cx="0" cy="0"/>
          <a:chOff x="0" y="0"/>
          <a:chExt cx="0" cy="0"/>
        </a:xfrm>
      </p:grpSpPr>
      <p:sp>
        <p:nvSpPr>
          <p:cNvPr id="2" name="Text 0"/>
          <p:cNvSpPr/>
          <p:nvPr/>
        </p:nvSpPr>
        <p:spPr>
          <a:xfrm>
            <a:off x="411480" y="256032"/>
            <a:ext cx="832104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Simple, Honest Pricing</a:t>
            </a:r>
            <a:endParaRPr lang="en-US" sz="3000" dirty="0"/>
          </a:p>
        </p:txBody>
      </p:sp>
      <p:sp>
        <p:nvSpPr>
          <p:cNvPr id="3" name="Shape 1"/>
          <p:cNvSpPr/>
          <p:nvPr/>
        </p:nvSpPr>
        <p:spPr>
          <a:xfrm>
            <a:off x="429768" y="914400"/>
            <a:ext cx="2651760" cy="3246120"/>
          </a:xfrm>
          <a:prstGeom prst="roundRect">
            <a:avLst>
              <a:gd name="adj" fmla="val 4828"/>
            </a:avLst>
          </a:prstGeom>
          <a:solidFill>
            <a:srgbClr val="1E1040"/>
          </a:solidFill>
          <a:ln w="12700">
            <a:solidFill>
              <a:srgbClr val="22C55E"/>
            </a:solidFill>
            <a:prstDash val="solid"/>
          </a:ln>
          <a:effectLst>
            <a:outerShdw sx="100000" sy="100000" kx="0" ky="0" algn="bl" rotWithShape="0" blurRad="101600" dist="38100" dir="2700000">
              <a:srgbClr val="000000">
                <a:alpha val="35000"/>
              </a:srgbClr>
            </a:outerShdw>
          </a:effectLst>
        </p:spPr>
      </p:sp>
      <p:sp>
        <p:nvSpPr>
          <p:cNvPr id="4" name="Text 2"/>
          <p:cNvSpPr/>
          <p:nvPr/>
        </p:nvSpPr>
        <p:spPr>
          <a:xfrm>
            <a:off x="429768" y="1051560"/>
            <a:ext cx="2651760" cy="365760"/>
          </a:xfrm>
          <a:prstGeom prst="rect">
            <a:avLst/>
          </a:prstGeom>
          <a:noFill/>
          <a:ln/>
        </p:spPr>
        <p:txBody>
          <a:bodyPr wrap="square" lIns="0" tIns="0" rIns="0" bIns="0" rtlCol="0" anchor="ctr"/>
          <a:lstStyle/>
          <a:p>
            <a:pPr algn="ctr" indent="0" marL="0">
              <a:buNone/>
            </a:pPr>
            <a:r>
              <a:rPr lang="en-US" sz="1300" b="1" spc="100" kern="0" dirty="0">
                <a:solidFill>
                  <a:srgbClr val="86EFAC"/>
                </a:solidFill>
                <a:latin typeface="Calibri" pitchFamily="34" charset="0"/>
                <a:ea typeface="Calibri" pitchFamily="34" charset="-122"/>
                <a:cs typeface="Calibri" pitchFamily="34" charset="-120"/>
              </a:rPr>
              <a:t>FREE</a:t>
            </a:r>
            <a:endParaRPr lang="en-US" sz="1300" dirty="0"/>
          </a:p>
        </p:txBody>
      </p:sp>
      <p:sp>
        <p:nvSpPr>
          <p:cNvPr id="5" name="Text 3"/>
          <p:cNvSpPr/>
          <p:nvPr/>
        </p:nvSpPr>
        <p:spPr>
          <a:xfrm>
            <a:off x="429768" y="1417320"/>
            <a:ext cx="265176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$0</a:t>
            </a:r>
            <a:endParaRPr lang="en-US" sz="3400" dirty="0"/>
          </a:p>
        </p:txBody>
      </p:sp>
      <p:sp>
        <p:nvSpPr>
          <p:cNvPr id="6" name="Text 4"/>
          <p:cNvSpPr/>
          <p:nvPr/>
        </p:nvSpPr>
        <p:spPr>
          <a:xfrm>
            <a:off x="429768" y="2029968"/>
            <a:ext cx="2651760" cy="256032"/>
          </a:xfrm>
          <a:prstGeom prst="rect">
            <a:avLst/>
          </a:prstGeom>
          <a:noFill/>
          <a:ln/>
        </p:spPr>
        <p:txBody>
          <a:bodyPr wrap="square" lIns="0" tIns="0" rIns="0" bIns="0" rtlCol="0" anchor="ctr"/>
          <a:lstStyle/>
          <a:p>
            <a:pPr algn="ctr" indent="0" marL="0">
              <a:buNone/>
            </a:pPr>
            <a:r>
              <a:rPr lang="en-US" sz="1200" dirty="0">
                <a:solidFill>
                  <a:srgbClr val="C4B5FD"/>
                </a:solidFill>
                <a:latin typeface="Calibri" pitchFamily="34" charset="0"/>
                <a:ea typeface="Calibri" pitchFamily="34" charset="-122"/>
                <a:cs typeface="Calibri" pitchFamily="34" charset="-120"/>
              </a:rPr>
              <a:t>forever</a:t>
            </a:r>
            <a:endParaRPr lang="en-US" sz="1200" dirty="0"/>
          </a:p>
        </p:txBody>
      </p:sp>
      <p:sp>
        <p:nvSpPr>
          <p:cNvPr id="7" name="Shape 5"/>
          <p:cNvSpPr/>
          <p:nvPr/>
        </p:nvSpPr>
        <p:spPr>
          <a:xfrm>
            <a:off x="612648" y="2331720"/>
            <a:ext cx="2286000" cy="0"/>
          </a:xfrm>
          <a:prstGeom prst="line">
            <a:avLst/>
          </a:prstGeom>
          <a:noFill/>
          <a:ln w="12700">
            <a:solidFill>
              <a:srgbClr val="22C55E"/>
            </a:solidFill>
            <a:prstDash val="solid"/>
          </a:ln>
        </p:spPr>
      </p:sp>
      <p:sp>
        <p:nvSpPr>
          <p:cNvPr id="8" name="Text 6"/>
          <p:cNvSpPr/>
          <p:nvPr/>
        </p:nvSpPr>
        <p:spPr>
          <a:xfrm>
            <a:off x="566928" y="2423160"/>
            <a:ext cx="2377440" cy="160020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C4B5FD"/>
                </a:solidFill>
                <a:latin typeface="Calibri" pitchFamily="34" charset="0"/>
                <a:ea typeface="Calibri" pitchFamily="34" charset="-122"/>
                <a:cs typeface="Calibri" pitchFamily="34" charset="-120"/>
              </a:rPr>
              <a:t>Starter lessons</a:t>
            </a:r>
            <a:endParaRPr lang="en-US" sz="1100" dirty="0"/>
          </a:p>
          <a:p>
            <a:pPr marL="342900" indent="-342900">
              <a:spcAft>
                <a:spcPts val="500"/>
              </a:spcAft>
              <a:buSzPct val="100000"/>
              <a:buChar char="•"/>
            </a:pPr>
            <a:r>
              <a:rPr lang="en-US" sz="1100" dirty="0">
                <a:solidFill>
                  <a:srgbClr val="C4B5FD"/>
                </a:solidFill>
                <a:latin typeface="Calibri" pitchFamily="34" charset="0"/>
                <a:ea typeface="Calibri" pitchFamily="34" charset="-122"/>
                <a:cs typeface="Calibri" pitchFamily="34" charset="-120"/>
              </a:rPr>
              <a:t>Playground</a:t>
            </a:r>
            <a:endParaRPr lang="en-US" sz="1100" dirty="0"/>
          </a:p>
          <a:p>
            <a:pPr marL="342900" indent="-342900">
              <a:spcAft>
                <a:spcPts val="500"/>
              </a:spcAft>
              <a:buSzPct val="100000"/>
              <a:buChar char="•"/>
            </a:pPr>
            <a:r>
              <a:rPr lang="en-US" sz="1100" dirty="0">
                <a:solidFill>
                  <a:srgbClr val="C4B5FD"/>
                </a:solidFill>
                <a:latin typeface="Calibri" pitchFamily="34" charset="0"/>
                <a:ea typeface="Calibri" pitchFamily="34" charset="-122"/>
                <a:cs typeface="Calibri" pitchFamily="34" charset="-120"/>
              </a:rPr>
              <a:t>Community gallery</a:t>
            </a:r>
            <a:endParaRPr lang="en-US" sz="1100" dirty="0"/>
          </a:p>
          <a:p>
            <a:pPr marL="342900" indent="-342900">
              <a:spcAft>
                <a:spcPts val="500"/>
              </a:spcAft>
              <a:buSzPct val="100000"/>
              <a:buChar char="•"/>
            </a:pPr>
            <a:r>
              <a:rPr lang="en-US" sz="1100" dirty="0">
                <a:solidFill>
                  <a:srgbClr val="C4B5FD"/>
                </a:solidFill>
                <a:latin typeface="Calibri" pitchFamily="34" charset="0"/>
                <a:ea typeface="Calibri" pitchFamily="34" charset="-122"/>
                <a:cs typeface="Calibri" pitchFamily="34" charset="-120"/>
              </a:rPr>
              <a:t>Avatar customization</a:t>
            </a:r>
            <a:endParaRPr lang="en-US" sz="1100" dirty="0"/>
          </a:p>
        </p:txBody>
      </p:sp>
      <p:sp>
        <p:nvSpPr>
          <p:cNvPr id="9" name="Shape 7"/>
          <p:cNvSpPr/>
          <p:nvPr/>
        </p:nvSpPr>
        <p:spPr>
          <a:xfrm>
            <a:off x="3246120" y="914400"/>
            <a:ext cx="2651760" cy="3246120"/>
          </a:xfrm>
          <a:prstGeom prst="roundRect">
            <a:avLst>
              <a:gd name="adj" fmla="val 4828"/>
            </a:avLst>
          </a:prstGeom>
          <a:solidFill>
            <a:srgbClr val="1E0A40"/>
          </a:solidFill>
          <a:ln w="25400">
            <a:solidFill>
              <a:srgbClr val="7C3AED"/>
            </a:solidFill>
            <a:prstDash val="solid"/>
          </a:ln>
          <a:effectLst>
            <a:outerShdw sx="100000" sy="100000" kx="0" ky="0" algn="bl" rotWithShape="0" blurRad="101600" dist="38100" dir="2700000">
              <a:srgbClr val="000000">
                <a:alpha val="35000"/>
              </a:srgbClr>
            </a:outerShdw>
          </a:effectLst>
        </p:spPr>
      </p:sp>
      <p:sp>
        <p:nvSpPr>
          <p:cNvPr id="10" name="Text 8"/>
          <p:cNvSpPr/>
          <p:nvPr/>
        </p:nvSpPr>
        <p:spPr>
          <a:xfrm>
            <a:off x="3246120" y="1051560"/>
            <a:ext cx="2651760" cy="365760"/>
          </a:xfrm>
          <a:prstGeom prst="rect">
            <a:avLst/>
          </a:prstGeom>
          <a:noFill/>
          <a:ln/>
        </p:spPr>
        <p:txBody>
          <a:bodyPr wrap="square" lIns="0" tIns="0" rIns="0" bIns="0" rtlCol="0" anchor="ctr"/>
          <a:lstStyle/>
          <a:p>
            <a:pPr algn="ctr" indent="0" marL="0">
              <a:buNone/>
            </a:pPr>
            <a:r>
              <a:rPr lang="en-US" sz="1300" b="1" spc="100" kern="0" dirty="0">
                <a:solidFill>
                  <a:srgbClr val="A78BFA"/>
                </a:solidFill>
                <a:latin typeface="Calibri" pitchFamily="34" charset="0"/>
                <a:ea typeface="Calibri" pitchFamily="34" charset="-122"/>
                <a:cs typeface="Calibri" pitchFamily="34" charset="-120"/>
              </a:rPr>
              <a:t>PRO</a:t>
            </a:r>
            <a:endParaRPr lang="en-US" sz="1300" dirty="0"/>
          </a:p>
        </p:txBody>
      </p:sp>
      <p:sp>
        <p:nvSpPr>
          <p:cNvPr id="11" name="Text 9"/>
          <p:cNvSpPr/>
          <p:nvPr/>
        </p:nvSpPr>
        <p:spPr>
          <a:xfrm>
            <a:off x="3246120" y="1417320"/>
            <a:ext cx="265176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$4.99</a:t>
            </a:r>
            <a:endParaRPr lang="en-US" sz="3400" dirty="0"/>
          </a:p>
        </p:txBody>
      </p:sp>
      <p:sp>
        <p:nvSpPr>
          <p:cNvPr id="12" name="Text 10"/>
          <p:cNvSpPr/>
          <p:nvPr/>
        </p:nvSpPr>
        <p:spPr>
          <a:xfrm>
            <a:off x="3246120" y="2029968"/>
            <a:ext cx="2651760" cy="256032"/>
          </a:xfrm>
          <a:prstGeom prst="rect">
            <a:avLst/>
          </a:prstGeom>
          <a:noFill/>
          <a:ln/>
        </p:spPr>
        <p:txBody>
          <a:bodyPr wrap="square" lIns="0" tIns="0" rIns="0" bIns="0" rtlCol="0" anchor="ctr"/>
          <a:lstStyle/>
          <a:p>
            <a:pPr algn="ctr" indent="0" marL="0">
              <a:buNone/>
            </a:pPr>
            <a:r>
              <a:rPr lang="en-US" sz="1200" dirty="0">
                <a:solidFill>
                  <a:srgbClr val="C4B5FD"/>
                </a:solidFill>
                <a:latin typeface="Calibri" pitchFamily="34" charset="0"/>
                <a:ea typeface="Calibri" pitchFamily="34" charset="-122"/>
                <a:cs typeface="Calibri" pitchFamily="34" charset="-120"/>
              </a:rPr>
              <a:t>/month</a:t>
            </a:r>
            <a:endParaRPr lang="en-US" sz="1200" dirty="0"/>
          </a:p>
        </p:txBody>
      </p:sp>
      <p:sp>
        <p:nvSpPr>
          <p:cNvPr id="13" name="Shape 11"/>
          <p:cNvSpPr/>
          <p:nvPr/>
        </p:nvSpPr>
        <p:spPr>
          <a:xfrm>
            <a:off x="3429000" y="2331720"/>
            <a:ext cx="2286000" cy="0"/>
          </a:xfrm>
          <a:prstGeom prst="line">
            <a:avLst/>
          </a:prstGeom>
          <a:noFill/>
          <a:ln w="12700">
            <a:solidFill>
              <a:srgbClr val="7C3AED"/>
            </a:solidFill>
            <a:prstDash val="solid"/>
          </a:ln>
        </p:spPr>
      </p:sp>
      <p:sp>
        <p:nvSpPr>
          <p:cNvPr id="14" name="Text 12"/>
          <p:cNvSpPr/>
          <p:nvPr/>
        </p:nvSpPr>
        <p:spPr>
          <a:xfrm>
            <a:off x="3383280" y="2423160"/>
            <a:ext cx="2377440" cy="160020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C4B5FD"/>
                </a:solidFill>
                <a:latin typeface="Calibri" pitchFamily="34" charset="0"/>
                <a:ea typeface="Calibri" pitchFamily="34" charset="-122"/>
                <a:cs typeface="Calibri" pitchFamily="34" charset="-120"/>
              </a:rPr>
              <a:t>Everything in Free</a:t>
            </a:r>
            <a:endParaRPr lang="en-US" sz="1100" dirty="0"/>
          </a:p>
          <a:p>
            <a:pPr marL="342900" indent="-342900">
              <a:spcAft>
                <a:spcPts val="500"/>
              </a:spcAft>
              <a:buSzPct val="100000"/>
              <a:buChar char="•"/>
            </a:pPr>
            <a:r>
              <a:rPr lang="en-US" sz="1100" dirty="0">
                <a:solidFill>
                  <a:srgbClr val="C4B5FD"/>
                </a:solidFill>
                <a:latin typeface="Calibri" pitchFamily="34" charset="0"/>
                <a:ea typeface="Calibri" pitchFamily="34" charset="-122"/>
                <a:cs typeface="Calibri" pitchFamily="34" charset="-120"/>
              </a:rPr>
              <a:t>All 152 lessons</a:t>
            </a:r>
            <a:endParaRPr lang="en-US" sz="1100" dirty="0"/>
          </a:p>
          <a:p>
            <a:pPr marL="342900" indent="-342900">
              <a:spcAft>
                <a:spcPts val="500"/>
              </a:spcAft>
              <a:buSzPct val="100000"/>
              <a:buChar char="•"/>
            </a:pPr>
            <a:r>
              <a:rPr lang="en-US" sz="1100" dirty="0">
                <a:solidFill>
                  <a:srgbClr val="C4B5FD"/>
                </a:solidFill>
                <a:latin typeface="Calibri" pitchFamily="34" charset="0"/>
                <a:ea typeface="Calibri" pitchFamily="34" charset="-122"/>
                <a:cs typeface="Calibri" pitchFamily="34" charset="-120"/>
              </a:rPr>
              <a:t>AI buddy Byte</a:t>
            </a:r>
            <a:endParaRPr lang="en-US" sz="1100" dirty="0"/>
          </a:p>
          <a:p>
            <a:pPr marL="342900" indent="-342900">
              <a:spcAft>
                <a:spcPts val="500"/>
              </a:spcAft>
              <a:buSzPct val="100000"/>
              <a:buChar char="•"/>
            </a:pPr>
            <a:r>
              <a:rPr lang="en-US" sz="1100" dirty="0">
                <a:solidFill>
                  <a:srgbClr val="C4B5FD"/>
                </a:solidFill>
                <a:latin typeface="Calibri" pitchFamily="34" charset="0"/>
                <a:ea typeface="Calibri" pitchFamily="34" charset="-122"/>
                <a:cs typeface="Calibri" pitchFamily="34" charset="-120"/>
              </a:rPr>
              <a:t>Unlimited daily lessons</a:t>
            </a:r>
            <a:endParaRPr lang="en-US" sz="1100" dirty="0"/>
          </a:p>
          <a:p>
            <a:pPr marL="342900" indent="-342900">
              <a:spcAft>
                <a:spcPts val="500"/>
              </a:spcAft>
              <a:buSzPct val="100000"/>
              <a:buChar char="•"/>
            </a:pPr>
            <a:r>
              <a:rPr lang="en-US" sz="1100" dirty="0">
                <a:solidFill>
                  <a:srgbClr val="C4B5FD"/>
                </a:solidFill>
                <a:latin typeface="Calibri" pitchFamily="34" charset="0"/>
                <a:ea typeface="Calibri" pitchFamily="34" charset="-122"/>
                <a:cs typeface="Calibri" pitchFamily="34" charset="-120"/>
              </a:rPr>
              <a:t>Boss battles &amp; certificates</a:t>
            </a:r>
            <a:endParaRPr lang="en-US" sz="1100" dirty="0"/>
          </a:p>
        </p:txBody>
      </p:sp>
      <p:sp>
        <p:nvSpPr>
          <p:cNvPr id="15" name="Shape 13"/>
          <p:cNvSpPr/>
          <p:nvPr/>
        </p:nvSpPr>
        <p:spPr>
          <a:xfrm>
            <a:off x="6062472" y="914400"/>
            <a:ext cx="2651760" cy="3246120"/>
          </a:xfrm>
          <a:prstGeom prst="roundRect">
            <a:avLst>
              <a:gd name="adj" fmla="val 4828"/>
            </a:avLst>
          </a:prstGeom>
          <a:solidFill>
            <a:srgbClr val="1E1040"/>
          </a:solidFill>
          <a:ln w="12700">
            <a:solidFill>
              <a:srgbClr val="0891B2"/>
            </a:solidFill>
            <a:prstDash val="solid"/>
          </a:ln>
          <a:effectLst>
            <a:outerShdw sx="100000" sy="100000" kx="0" ky="0" algn="bl" rotWithShape="0" blurRad="101600" dist="38100" dir="2700000">
              <a:srgbClr val="000000">
                <a:alpha val="35000"/>
              </a:srgbClr>
            </a:outerShdw>
          </a:effectLst>
        </p:spPr>
      </p:sp>
      <p:sp>
        <p:nvSpPr>
          <p:cNvPr id="16" name="Text 14"/>
          <p:cNvSpPr/>
          <p:nvPr/>
        </p:nvSpPr>
        <p:spPr>
          <a:xfrm>
            <a:off x="6062472" y="1051560"/>
            <a:ext cx="2651760" cy="365760"/>
          </a:xfrm>
          <a:prstGeom prst="rect">
            <a:avLst/>
          </a:prstGeom>
          <a:noFill/>
          <a:ln/>
        </p:spPr>
        <p:txBody>
          <a:bodyPr wrap="square" lIns="0" tIns="0" rIns="0" bIns="0" rtlCol="0" anchor="ctr"/>
          <a:lstStyle/>
          <a:p>
            <a:pPr algn="ctr" indent="0" marL="0">
              <a:buNone/>
            </a:pPr>
            <a:r>
              <a:rPr lang="en-US" sz="1300" b="1" spc="100" kern="0" dirty="0">
                <a:solidFill>
                  <a:srgbClr val="67E8F9"/>
                </a:solidFill>
                <a:latin typeface="Calibri" pitchFamily="34" charset="0"/>
                <a:ea typeface="Calibri" pitchFamily="34" charset="-122"/>
                <a:cs typeface="Calibri" pitchFamily="34" charset="-120"/>
              </a:rPr>
              <a:t>LIBRARY / SCHOOL</a:t>
            </a:r>
            <a:endParaRPr lang="en-US" sz="1300" dirty="0"/>
          </a:p>
        </p:txBody>
      </p:sp>
      <p:sp>
        <p:nvSpPr>
          <p:cNvPr id="17" name="Text 15"/>
          <p:cNvSpPr/>
          <p:nvPr/>
        </p:nvSpPr>
        <p:spPr>
          <a:xfrm>
            <a:off x="6062472" y="1417320"/>
            <a:ext cx="265176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Custom</a:t>
            </a:r>
            <a:endParaRPr lang="en-US" sz="3400" dirty="0"/>
          </a:p>
        </p:txBody>
      </p:sp>
      <p:sp>
        <p:nvSpPr>
          <p:cNvPr id="18" name="Shape 16"/>
          <p:cNvSpPr/>
          <p:nvPr/>
        </p:nvSpPr>
        <p:spPr>
          <a:xfrm>
            <a:off x="6245352" y="2331720"/>
            <a:ext cx="2286000" cy="0"/>
          </a:xfrm>
          <a:prstGeom prst="line">
            <a:avLst/>
          </a:prstGeom>
          <a:noFill/>
          <a:ln w="12700">
            <a:solidFill>
              <a:srgbClr val="0891B2"/>
            </a:solidFill>
            <a:prstDash val="solid"/>
          </a:ln>
        </p:spPr>
      </p:sp>
      <p:sp>
        <p:nvSpPr>
          <p:cNvPr id="19" name="Text 17"/>
          <p:cNvSpPr/>
          <p:nvPr/>
        </p:nvSpPr>
        <p:spPr>
          <a:xfrm>
            <a:off x="6199632" y="2423160"/>
            <a:ext cx="2377440" cy="160020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C4B5FD"/>
                </a:solidFill>
                <a:latin typeface="Calibri" pitchFamily="34" charset="0"/>
                <a:ea typeface="Calibri" pitchFamily="34" charset="-122"/>
                <a:cs typeface="Calibri" pitchFamily="34" charset="-120"/>
              </a:rPr>
              <a:t>Bulk student seats</a:t>
            </a:r>
            <a:endParaRPr lang="en-US" sz="1100" dirty="0"/>
          </a:p>
          <a:p>
            <a:pPr marL="342900" indent="-342900">
              <a:spcAft>
                <a:spcPts val="500"/>
              </a:spcAft>
              <a:buSzPct val="100000"/>
              <a:buChar char="•"/>
            </a:pPr>
            <a:r>
              <a:rPr lang="en-US" sz="1100" dirty="0">
                <a:solidFill>
                  <a:srgbClr val="C4B5FD"/>
                </a:solidFill>
                <a:latin typeface="Calibri" pitchFamily="34" charset="0"/>
                <a:ea typeface="Calibri" pitchFamily="34" charset="-122"/>
                <a:cs typeface="Calibri" pitchFamily="34" charset="-120"/>
              </a:rPr>
              <a:t>Teacher dashboard</a:t>
            </a:r>
            <a:endParaRPr lang="en-US" sz="1100" dirty="0"/>
          </a:p>
          <a:p>
            <a:pPr marL="342900" indent="-342900">
              <a:spcAft>
                <a:spcPts val="500"/>
              </a:spcAft>
              <a:buSzPct val="100000"/>
              <a:buChar char="•"/>
            </a:pPr>
            <a:r>
              <a:rPr lang="en-US" sz="1100" dirty="0">
                <a:solidFill>
                  <a:srgbClr val="C4B5FD"/>
                </a:solidFill>
                <a:latin typeface="Calibri" pitchFamily="34" charset="0"/>
                <a:ea typeface="Calibri" pitchFamily="34" charset="-122"/>
                <a:cs typeface="Calibri" pitchFamily="34" charset="-120"/>
              </a:rPr>
              <a:t>District branding</a:t>
            </a:r>
            <a:endParaRPr lang="en-US" sz="1100" dirty="0"/>
          </a:p>
          <a:p>
            <a:pPr marL="342900" indent="-342900">
              <a:spcAft>
                <a:spcPts val="500"/>
              </a:spcAft>
              <a:buSzPct val="100000"/>
              <a:buChar char="•"/>
            </a:pPr>
            <a:r>
              <a:rPr lang="en-US" sz="1100" dirty="0">
                <a:solidFill>
                  <a:srgbClr val="C4B5FD"/>
                </a:solidFill>
                <a:latin typeface="Calibri" pitchFamily="34" charset="0"/>
                <a:ea typeface="Calibri" pitchFamily="34" charset="-122"/>
                <a:cs typeface="Calibri" pitchFamily="34" charset="-120"/>
              </a:rPr>
              <a:t>Onboarding support</a:t>
            </a:r>
            <a:endParaRPr lang="en-US" sz="1100" dirty="0"/>
          </a:p>
        </p:txBody>
      </p:sp>
      <p:sp>
        <p:nvSpPr>
          <p:cNvPr id="20" name="Shape 18"/>
          <p:cNvSpPr/>
          <p:nvPr/>
        </p:nvSpPr>
        <p:spPr>
          <a:xfrm>
            <a:off x="365760" y="4224528"/>
            <a:ext cx="8412480" cy="530352"/>
          </a:xfrm>
          <a:prstGeom prst="roundRect">
            <a:avLst>
              <a:gd name="adj" fmla="val 20690"/>
            </a:avLst>
          </a:prstGeom>
          <a:solidFill>
            <a:srgbClr val="2D0A50"/>
          </a:solidFill>
          <a:ln w="12700">
            <a:solidFill>
              <a:srgbClr val="3B1F6E"/>
            </a:solidFill>
            <a:prstDash val="solid"/>
          </a:ln>
        </p:spPr>
      </p:sp>
      <p:sp>
        <p:nvSpPr>
          <p:cNvPr id="21" name="Text 19"/>
          <p:cNvSpPr/>
          <p:nvPr/>
        </p:nvSpPr>
        <p:spPr>
          <a:xfrm>
            <a:off x="365760" y="4224528"/>
            <a:ext cx="8412480" cy="530352"/>
          </a:xfrm>
          <a:prstGeom prst="rect">
            <a:avLst/>
          </a:prstGeom>
          <a:noFill/>
          <a:ln/>
        </p:spPr>
        <p:txBody>
          <a:bodyPr wrap="square" lIns="0" tIns="0" rIns="0" bIns="0" rtlCol="0" anchor="ctr"/>
          <a:lstStyle/>
          <a:p>
            <a:pPr algn="ctr" indent="0" marL="0">
              <a:buNone/>
            </a:pPr>
            <a:r>
              <a:rPr lang="en-US" sz="1100" b="1" dirty="0">
                <a:solidFill>
                  <a:srgbClr val="FBBF24"/>
                </a:solidFill>
                <a:latin typeface="Calibri" pitchFamily="34" charset="0"/>
                <a:ea typeface="Calibri" pitchFamily="34" charset="-122"/>
                <a:cs typeface="Calibri" pitchFamily="34" charset="-120"/>
              </a:rPr>
              <a:t>🎁  Launch offer: First 100 students get 30 days of Pro FREE  ·  Paid plans not yet charging — everyone gets Pro free while we finish setup</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0820"/>
        </a:solidFill>
      </p:bgPr>
    </p:bg>
    <p:spTree>
      <p:nvGrpSpPr>
        <p:cNvPr id="1" name=""/>
        <p:cNvGrpSpPr/>
        <p:nvPr/>
      </p:nvGrpSpPr>
      <p:grpSpPr>
        <a:xfrm>
          <a:off x="0" y="0"/>
          <a:ext cx="0" cy="0"/>
          <a:chOff x="0" y="0"/>
          <a:chExt cx="0" cy="0"/>
        </a:xfrm>
      </p:grpSpPr>
      <p:sp>
        <p:nvSpPr>
          <p:cNvPr id="2" name="Text 0"/>
          <p:cNvSpPr/>
          <p:nvPr/>
        </p:nvSpPr>
        <p:spPr>
          <a:xfrm>
            <a:off x="411480" y="256032"/>
            <a:ext cx="832104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Let's Try It Live 🚀</a:t>
            </a:r>
            <a:endParaRPr lang="en-US" sz="3000" dirty="0"/>
          </a:p>
        </p:txBody>
      </p:sp>
      <p:sp>
        <p:nvSpPr>
          <p:cNvPr id="3" name="Shape 1"/>
          <p:cNvSpPr/>
          <p:nvPr/>
        </p:nvSpPr>
        <p:spPr>
          <a:xfrm>
            <a:off x="274320" y="1188720"/>
            <a:ext cx="548640" cy="548640"/>
          </a:xfrm>
          <a:prstGeom prst="ellipse">
            <a:avLst/>
          </a:prstGeom>
          <a:solidFill>
            <a:srgbClr val="7C3AED"/>
          </a:solidFill>
          <a:ln w="12700">
            <a:solidFill>
              <a:srgbClr val="A78BFA"/>
            </a:solidFill>
            <a:prstDash val="solid"/>
          </a:ln>
        </p:spPr>
      </p:sp>
      <p:sp>
        <p:nvSpPr>
          <p:cNvPr id="4" name="Text 2"/>
          <p:cNvSpPr/>
          <p:nvPr/>
        </p:nvSpPr>
        <p:spPr>
          <a:xfrm>
            <a:off x="274320" y="11887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Shape 3"/>
          <p:cNvSpPr/>
          <p:nvPr/>
        </p:nvSpPr>
        <p:spPr>
          <a:xfrm>
            <a:off x="1005840" y="1097280"/>
            <a:ext cx="7863840" cy="731520"/>
          </a:xfrm>
          <a:prstGeom prst="roundRect">
            <a:avLst>
              <a:gd name="adj" fmla="val 15000"/>
            </a:avLst>
          </a:prstGeom>
          <a:solidFill>
            <a:srgbClr val="1E1040"/>
          </a:solidFill>
          <a:ln w="12700">
            <a:solidFill>
              <a:srgbClr val="3B1F6E"/>
            </a:solidFill>
            <a:prstDash val="solid"/>
          </a:ln>
        </p:spPr>
      </p:sp>
      <p:sp>
        <p:nvSpPr>
          <p:cNvPr id="6" name="Text 4"/>
          <p:cNvSpPr/>
          <p:nvPr/>
        </p:nvSpPr>
        <p:spPr>
          <a:xfrm>
            <a:off x="1097280" y="1170432"/>
            <a:ext cx="7680960" cy="594360"/>
          </a:xfrm>
          <a:prstGeom prst="rect">
            <a:avLst/>
          </a:prstGeom>
          <a:noFill/>
          <a:ln/>
        </p:spPr>
        <p:txBody>
          <a:bodyPr wrap="square" lIns="0" tIns="0" rIns="0" bIns="0" rtlCol="0" anchor="ctr"/>
          <a:lstStyle/>
          <a:p>
            <a:pPr indent="0" marL="0">
              <a:buNone/>
            </a:pPr>
            <a:r>
              <a:rPr lang="en-US" sz="1500" dirty="0">
                <a:solidFill>
                  <a:srgbClr val="C4B5FD"/>
                </a:solidFill>
                <a:latin typeface="Calibri" pitchFamily="34" charset="0"/>
                <a:ea typeface="Calibri" pitchFamily="34" charset="-122"/>
                <a:cs typeface="Calibri" pitchFamily="34" charset="-120"/>
              </a:rPr>
              <a:t>Open your browser and go to  </a:t>
            </a:r>
            <a:pPr indent="0" marL="0">
              <a:buNone/>
            </a:pPr>
            <a:r>
              <a:rPr lang="en-US" sz="1500" b="1" dirty="0">
                <a:solidFill>
                  <a:srgbClr val="A78BFA"/>
                </a:solidFill>
                <a:latin typeface="Calibri" pitchFamily="34" charset="0"/>
                <a:ea typeface="Calibri" pitchFamily="34" charset="-122"/>
                <a:cs typeface="Calibri" pitchFamily="34" charset="-120"/>
              </a:rPr>
              <a:t>kidvibers.com</a:t>
            </a:r>
            <a:endParaRPr lang="en-US" sz="1500" dirty="0"/>
          </a:p>
        </p:txBody>
      </p:sp>
      <p:sp>
        <p:nvSpPr>
          <p:cNvPr id="7" name="Shape 5"/>
          <p:cNvSpPr/>
          <p:nvPr/>
        </p:nvSpPr>
        <p:spPr>
          <a:xfrm>
            <a:off x="274320" y="2194560"/>
            <a:ext cx="548640" cy="548640"/>
          </a:xfrm>
          <a:prstGeom prst="ellipse">
            <a:avLst/>
          </a:prstGeom>
          <a:solidFill>
            <a:srgbClr val="7C3AED"/>
          </a:solidFill>
          <a:ln w="12700">
            <a:solidFill>
              <a:srgbClr val="A78BFA"/>
            </a:solidFill>
            <a:prstDash val="solid"/>
          </a:ln>
        </p:spPr>
      </p:sp>
      <p:sp>
        <p:nvSpPr>
          <p:cNvPr id="8" name="Text 6"/>
          <p:cNvSpPr/>
          <p:nvPr/>
        </p:nvSpPr>
        <p:spPr>
          <a:xfrm>
            <a:off x="274320" y="21945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Shape 7"/>
          <p:cNvSpPr/>
          <p:nvPr/>
        </p:nvSpPr>
        <p:spPr>
          <a:xfrm>
            <a:off x="1005840" y="2103120"/>
            <a:ext cx="7863840" cy="731520"/>
          </a:xfrm>
          <a:prstGeom prst="roundRect">
            <a:avLst>
              <a:gd name="adj" fmla="val 15000"/>
            </a:avLst>
          </a:prstGeom>
          <a:solidFill>
            <a:srgbClr val="1E1040"/>
          </a:solidFill>
          <a:ln w="12700">
            <a:solidFill>
              <a:srgbClr val="3B1F6E"/>
            </a:solidFill>
            <a:prstDash val="solid"/>
          </a:ln>
        </p:spPr>
      </p:sp>
      <p:sp>
        <p:nvSpPr>
          <p:cNvPr id="10" name="Text 8"/>
          <p:cNvSpPr/>
          <p:nvPr/>
        </p:nvSpPr>
        <p:spPr>
          <a:xfrm>
            <a:off x="1097280" y="2176272"/>
            <a:ext cx="7680960" cy="594360"/>
          </a:xfrm>
          <a:prstGeom prst="rect">
            <a:avLst/>
          </a:prstGeom>
          <a:noFill/>
          <a:ln/>
        </p:spPr>
        <p:txBody>
          <a:bodyPr wrap="square" lIns="0" tIns="0" rIns="0" bIns="0" rtlCol="0" anchor="ctr"/>
          <a:lstStyle/>
          <a:p>
            <a:pPr indent="0" marL="0">
              <a:buNone/>
            </a:pPr>
            <a:r>
              <a:rPr lang="en-US" sz="1300" dirty="0">
                <a:solidFill>
                  <a:srgbClr val="C4B5FD"/>
                </a:solidFill>
                <a:latin typeface="Calibri" pitchFamily="34" charset="0"/>
                <a:ea typeface="Calibri" pitchFamily="34" charset="-122"/>
                <a:cs typeface="Calibri" pitchFamily="34" charset="-120"/>
              </a:rPr>
              <a:t>Kid demo login →  username:</a:t>
            </a:r>
            <a:pPr indent="0" marL="0">
              <a:buNone/>
            </a:pPr>
            <a:r>
              <a:rPr lang="en-US" sz="1300" b="1" dirty="0">
                <a:solidFill>
                  <a:srgbClr val="34D399"/>
                </a:solidFill>
                <a:latin typeface="Calibri" pitchFamily="34" charset="0"/>
                <a:ea typeface="Calibri" pitchFamily="34" charset="-122"/>
                <a:cs typeface="Calibri" pitchFamily="34" charset="-120"/>
              </a:rPr>
              <a:t> demokid</a:t>
            </a:r>
            <a:pPr indent="0" marL="0">
              <a:buNone/>
            </a:pPr>
            <a:r>
              <a:rPr lang="en-US" sz="1300" dirty="0">
                <a:solidFill>
                  <a:srgbClr val="C4B5FD"/>
                </a:solidFill>
                <a:latin typeface="Calibri" pitchFamily="34" charset="0"/>
                <a:ea typeface="Calibri" pitchFamily="34" charset="-122"/>
                <a:cs typeface="Calibri" pitchFamily="34" charset="-120"/>
              </a:rPr>
              <a:t>  /  password:</a:t>
            </a:r>
            <a:pPr indent="0" marL="0">
              <a:buNone/>
            </a:pPr>
            <a:r>
              <a:rPr lang="en-US" sz="1300" b="1" dirty="0">
                <a:solidFill>
                  <a:srgbClr val="FBBF24"/>
                </a:solidFill>
                <a:latin typeface="Calibri" pitchFamily="34" charset="0"/>
                <a:ea typeface="Calibri" pitchFamily="34" charset="-122"/>
                <a:cs typeface="Calibri" pitchFamily="34" charset="-120"/>
              </a:rPr>
              <a:t> kidvibers1</a:t>
            </a:r>
            <a:endParaRPr lang="en-US" sz="1300" dirty="0"/>
          </a:p>
        </p:txBody>
      </p:sp>
      <p:sp>
        <p:nvSpPr>
          <p:cNvPr id="11" name="Shape 9"/>
          <p:cNvSpPr/>
          <p:nvPr/>
        </p:nvSpPr>
        <p:spPr>
          <a:xfrm>
            <a:off x="274320" y="3200400"/>
            <a:ext cx="548640" cy="548640"/>
          </a:xfrm>
          <a:prstGeom prst="ellipse">
            <a:avLst/>
          </a:prstGeom>
          <a:solidFill>
            <a:srgbClr val="7C3AED"/>
          </a:solidFill>
          <a:ln w="12700">
            <a:solidFill>
              <a:srgbClr val="A78BFA"/>
            </a:solidFill>
            <a:prstDash val="solid"/>
          </a:ln>
        </p:spPr>
      </p:sp>
      <p:sp>
        <p:nvSpPr>
          <p:cNvPr id="12" name="Text 10"/>
          <p:cNvSpPr/>
          <p:nvPr/>
        </p:nvSpPr>
        <p:spPr>
          <a:xfrm>
            <a:off x="274320" y="32004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Shape 11"/>
          <p:cNvSpPr/>
          <p:nvPr/>
        </p:nvSpPr>
        <p:spPr>
          <a:xfrm>
            <a:off x="1005840" y="3108960"/>
            <a:ext cx="7863840" cy="731520"/>
          </a:xfrm>
          <a:prstGeom prst="roundRect">
            <a:avLst>
              <a:gd name="adj" fmla="val 15000"/>
            </a:avLst>
          </a:prstGeom>
          <a:solidFill>
            <a:srgbClr val="1E1040"/>
          </a:solidFill>
          <a:ln w="12700">
            <a:solidFill>
              <a:srgbClr val="3B1F6E"/>
            </a:solidFill>
            <a:prstDash val="solid"/>
          </a:ln>
        </p:spPr>
      </p:sp>
      <p:sp>
        <p:nvSpPr>
          <p:cNvPr id="14" name="Text 12"/>
          <p:cNvSpPr/>
          <p:nvPr/>
        </p:nvSpPr>
        <p:spPr>
          <a:xfrm>
            <a:off x="1097280" y="3182112"/>
            <a:ext cx="7680960" cy="594360"/>
          </a:xfrm>
          <a:prstGeom prst="rect">
            <a:avLst/>
          </a:prstGeom>
          <a:noFill/>
          <a:ln/>
        </p:spPr>
        <p:txBody>
          <a:bodyPr wrap="square" lIns="0" tIns="0" rIns="0" bIns="0" rtlCol="0" anchor="ctr"/>
          <a:lstStyle/>
          <a:p>
            <a:pPr indent="0" marL="0">
              <a:buNone/>
            </a:pPr>
            <a:r>
              <a:rPr lang="en-US" sz="1300" dirty="0">
                <a:solidFill>
                  <a:srgbClr val="C4B5FD"/>
                </a:solidFill>
                <a:latin typeface="Calibri" pitchFamily="34" charset="0"/>
                <a:ea typeface="Calibri" pitchFamily="34" charset="-122"/>
                <a:cs typeface="Calibri" pitchFamily="34" charset="-120"/>
              </a:rPr>
              <a:t>Library demo →  username:</a:t>
            </a:r>
            <a:pPr indent="0" marL="0">
              <a:buNone/>
            </a:pPr>
            <a:r>
              <a:rPr lang="en-US" sz="1300" b="1" dirty="0">
                <a:solidFill>
                  <a:srgbClr val="34D399"/>
                </a:solidFill>
                <a:latin typeface="Calibri" pitchFamily="34" charset="0"/>
                <a:ea typeface="Calibri" pitchFamily="34" charset="-122"/>
                <a:cs typeface="Calibri" pitchFamily="34" charset="-120"/>
              </a:rPr>
              <a:t> arlington</a:t>
            </a:r>
            <a:pPr indent="0" marL="0">
              <a:buNone/>
            </a:pPr>
            <a:r>
              <a:rPr lang="en-US" sz="1300" dirty="0">
                <a:solidFill>
                  <a:srgbClr val="C4B5FD"/>
                </a:solidFill>
                <a:latin typeface="Calibri" pitchFamily="34" charset="0"/>
                <a:ea typeface="Calibri" pitchFamily="34" charset="-122"/>
                <a:cs typeface="Calibri" pitchFamily="34" charset="-120"/>
              </a:rPr>
              <a:t>  /  password:</a:t>
            </a:r>
            <a:pPr indent="0" marL="0">
              <a:buNone/>
            </a:pPr>
            <a:r>
              <a:rPr lang="en-US" sz="1300" b="1" dirty="0">
                <a:solidFill>
                  <a:srgbClr val="FBBF24"/>
                </a:solidFill>
                <a:latin typeface="Calibri" pitchFamily="34" charset="0"/>
                <a:ea typeface="Calibri" pitchFamily="34" charset="-122"/>
                <a:cs typeface="Calibri" pitchFamily="34" charset="-120"/>
              </a:rPr>
              <a:t> library1</a:t>
            </a:r>
            <a:endParaRPr lang="en-US" sz="1300" dirty="0"/>
          </a:p>
        </p:txBody>
      </p:sp>
      <p:sp>
        <p:nvSpPr>
          <p:cNvPr id="15" name="Shape 13"/>
          <p:cNvSpPr/>
          <p:nvPr/>
        </p:nvSpPr>
        <p:spPr>
          <a:xfrm>
            <a:off x="457200" y="3364992"/>
            <a:ext cx="8229600" cy="621792"/>
          </a:xfrm>
          <a:prstGeom prst="roundRect">
            <a:avLst>
              <a:gd name="adj" fmla="val 17647"/>
            </a:avLst>
          </a:prstGeom>
          <a:solidFill>
            <a:srgbClr val="1E0A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16" name="Text 14"/>
          <p:cNvSpPr/>
          <p:nvPr/>
        </p:nvSpPr>
        <p:spPr>
          <a:xfrm>
            <a:off x="457200" y="3364992"/>
            <a:ext cx="8229600" cy="621792"/>
          </a:xfrm>
          <a:prstGeom prst="rect">
            <a:avLst/>
          </a:prstGeom>
          <a:noFill/>
          <a:ln/>
        </p:spPr>
        <p:txBody>
          <a:bodyPr wrap="square" lIns="0" tIns="0" rIns="0" bIns="0" rtlCol="0" anchor="ctr"/>
          <a:lstStyle/>
          <a:p>
            <a:pPr algn="ctr" indent="0" marL="0">
              <a:buNone/>
            </a:pPr>
            <a:r>
              <a:rPr lang="en-US" sz="1500" b="1" i="1" dirty="0">
                <a:solidFill>
                  <a:srgbClr val="A78BFA"/>
                </a:solidFill>
                <a:latin typeface="Calibri" pitchFamily="34" charset="0"/>
                <a:ea typeface="Calibri" pitchFamily="34" charset="-122"/>
                <a:cs typeface="Calibri" pitchFamily="34" charset="-120"/>
              </a:rPr>
              <a:t>See a real lesson  ·  Try the Playground  ·  Explore the dashboard</a:t>
            </a:r>
            <a:endParaRPr lang="en-US" sz="1500" dirty="0"/>
          </a:p>
        </p:txBody>
      </p:sp>
      <p:sp>
        <p:nvSpPr>
          <p:cNvPr id="17" name="Text 15"/>
          <p:cNvSpPr/>
          <p:nvPr/>
        </p:nvSpPr>
        <p:spPr>
          <a:xfrm>
            <a:off x="457200" y="4114800"/>
            <a:ext cx="8229600" cy="347472"/>
          </a:xfrm>
          <a:prstGeom prst="rect">
            <a:avLst/>
          </a:prstGeom>
          <a:noFill/>
          <a:ln/>
        </p:spPr>
        <p:txBody>
          <a:bodyPr wrap="square" lIns="0" tIns="0" rIns="0" bIns="0" rtlCol="0" anchor="ctr"/>
          <a:lstStyle/>
          <a:p>
            <a:pPr algn="ctr" indent="0" marL="0">
              <a:buNone/>
            </a:pPr>
            <a:r>
              <a:rPr lang="en-US" sz="1200" i="1" dirty="0">
                <a:solidFill>
                  <a:srgbClr val="C4B5FD"/>
                </a:solidFill>
                <a:latin typeface="Calibri" pitchFamily="34" charset="0"/>
                <a:ea typeface="Calibri" pitchFamily="34" charset="-122"/>
                <a:cs typeface="Calibri" pitchFamily="34" charset="-120"/>
              </a:rPr>
              <a:t>152 lessons ready right now — no setup, no download, works on any device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0820"/>
        </a:solidFill>
      </p:bgPr>
    </p:bg>
    <p:spTree>
      <p:nvGrpSpPr>
        <p:cNvPr id="1" name=""/>
        <p:cNvGrpSpPr/>
        <p:nvPr/>
      </p:nvGrpSpPr>
      <p:grpSpPr>
        <a:xfrm>
          <a:off x="0" y="0"/>
          <a:ext cx="0" cy="0"/>
          <a:chOff x="0" y="0"/>
          <a:chExt cx="0" cy="0"/>
        </a:xfrm>
      </p:grpSpPr>
      <p:sp>
        <p:nvSpPr>
          <p:cNvPr id="2" name="Text 0"/>
          <p:cNvSpPr/>
          <p:nvPr/>
        </p:nvSpPr>
        <p:spPr>
          <a:xfrm>
            <a:off x="3886200" y="137160"/>
            <a:ext cx="1371600" cy="100584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365760" y="1115568"/>
            <a:ext cx="8412480" cy="658368"/>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Let's Bring Coding to Arlington Kids</a:t>
            </a:r>
            <a:endParaRPr lang="en-US" sz="3000" dirty="0"/>
          </a:p>
        </p:txBody>
      </p:sp>
      <p:sp>
        <p:nvSpPr>
          <p:cNvPr id="4" name="Shape 2"/>
          <p:cNvSpPr/>
          <p:nvPr/>
        </p:nvSpPr>
        <p:spPr>
          <a:xfrm>
            <a:off x="457200" y="1901952"/>
            <a:ext cx="8229600" cy="502920"/>
          </a:xfrm>
          <a:prstGeom prst="roundRect">
            <a:avLst>
              <a:gd name="adj" fmla="val 21818"/>
            </a:avLst>
          </a:prstGeom>
          <a:solidFill>
            <a:srgbClr val="1E1040"/>
          </a:solidFill>
          <a:ln w="12700">
            <a:solidFill>
              <a:srgbClr val="3B1F6E"/>
            </a:solidFill>
            <a:prstDash val="solid"/>
          </a:ln>
        </p:spPr>
      </p:sp>
      <p:sp>
        <p:nvSpPr>
          <p:cNvPr id="5" name="Text 3"/>
          <p:cNvSpPr/>
          <p:nvPr/>
        </p:nvSpPr>
        <p:spPr>
          <a:xfrm>
            <a:off x="548640" y="1901952"/>
            <a:ext cx="548640" cy="50292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6" name="Text 4"/>
          <p:cNvSpPr/>
          <p:nvPr/>
        </p:nvSpPr>
        <p:spPr>
          <a:xfrm>
            <a:off x="1143000" y="1956816"/>
            <a:ext cx="7406640" cy="40233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Partner with Arlington Public Library to offer KidVibers to members</a:t>
            </a:r>
            <a:endParaRPr lang="en-US" sz="1300" dirty="0"/>
          </a:p>
        </p:txBody>
      </p:sp>
      <p:sp>
        <p:nvSpPr>
          <p:cNvPr id="7" name="Shape 5"/>
          <p:cNvSpPr/>
          <p:nvPr/>
        </p:nvSpPr>
        <p:spPr>
          <a:xfrm>
            <a:off x="457200" y="2487168"/>
            <a:ext cx="8229600" cy="502920"/>
          </a:xfrm>
          <a:prstGeom prst="roundRect">
            <a:avLst>
              <a:gd name="adj" fmla="val 21818"/>
            </a:avLst>
          </a:prstGeom>
          <a:solidFill>
            <a:srgbClr val="1E1040"/>
          </a:solidFill>
          <a:ln w="12700">
            <a:solidFill>
              <a:srgbClr val="3B1F6E"/>
            </a:solidFill>
            <a:prstDash val="solid"/>
          </a:ln>
        </p:spPr>
      </p:sp>
      <p:sp>
        <p:nvSpPr>
          <p:cNvPr id="8" name="Text 6"/>
          <p:cNvSpPr/>
          <p:nvPr/>
        </p:nvSpPr>
        <p:spPr>
          <a:xfrm>
            <a:off x="548640" y="2487168"/>
            <a:ext cx="548640" cy="50292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9" name="Text 7"/>
          <p:cNvSpPr/>
          <p:nvPr/>
        </p:nvSpPr>
        <p:spPr>
          <a:xfrm>
            <a:off x="1143000" y="2542032"/>
            <a:ext cx="7406640" cy="40233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Pilot program: free Pro access for library card holders</a:t>
            </a:r>
            <a:endParaRPr lang="en-US" sz="1300" dirty="0"/>
          </a:p>
        </p:txBody>
      </p:sp>
      <p:sp>
        <p:nvSpPr>
          <p:cNvPr id="10" name="Shape 8"/>
          <p:cNvSpPr/>
          <p:nvPr/>
        </p:nvSpPr>
        <p:spPr>
          <a:xfrm>
            <a:off x="457200" y="3072384"/>
            <a:ext cx="8229600" cy="502920"/>
          </a:xfrm>
          <a:prstGeom prst="roundRect">
            <a:avLst>
              <a:gd name="adj" fmla="val 21818"/>
            </a:avLst>
          </a:prstGeom>
          <a:solidFill>
            <a:srgbClr val="1E1040"/>
          </a:solidFill>
          <a:ln w="12700">
            <a:solidFill>
              <a:srgbClr val="3B1F6E"/>
            </a:solidFill>
            <a:prstDash val="solid"/>
          </a:ln>
        </p:spPr>
      </p:sp>
      <p:sp>
        <p:nvSpPr>
          <p:cNvPr id="11" name="Text 9"/>
          <p:cNvSpPr/>
          <p:nvPr/>
        </p:nvSpPr>
        <p:spPr>
          <a:xfrm>
            <a:off x="548640" y="3072384"/>
            <a:ext cx="548640" cy="50292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12" name="Text 10"/>
          <p:cNvSpPr/>
          <p:nvPr/>
        </p:nvSpPr>
        <p:spPr>
          <a:xfrm>
            <a:off x="1143000" y="3127248"/>
            <a:ext cx="7406640" cy="40233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Share feedback to help us build the best kids coding platform</a:t>
            </a:r>
            <a:endParaRPr lang="en-US" sz="1300" dirty="0"/>
          </a:p>
        </p:txBody>
      </p:sp>
      <p:sp>
        <p:nvSpPr>
          <p:cNvPr id="13" name="Shape 11"/>
          <p:cNvSpPr/>
          <p:nvPr/>
        </p:nvSpPr>
        <p:spPr>
          <a:xfrm>
            <a:off x="1097280" y="3703320"/>
            <a:ext cx="6949440" cy="868680"/>
          </a:xfrm>
          <a:prstGeom prst="roundRect">
            <a:avLst>
              <a:gd name="adj" fmla="val 12632"/>
            </a:avLst>
          </a:prstGeom>
          <a:solidFill>
            <a:srgbClr val="1E0A40"/>
          </a:solidFill>
          <a:ln w="12700">
            <a:solidFill>
              <a:srgbClr val="3B1F6E"/>
            </a:solidFill>
            <a:prstDash val="solid"/>
          </a:ln>
          <a:effectLst>
            <a:outerShdw sx="100000" sy="100000" kx="0" ky="0" algn="bl" rotWithShape="0" blurRad="101600" dist="38100" dir="2700000">
              <a:srgbClr val="000000">
                <a:alpha val="35000"/>
              </a:srgbClr>
            </a:outerShdw>
          </a:effectLst>
        </p:spPr>
      </p:sp>
      <p:sp>
        <p:nvSpPr>
          <p:cNvPr id="14" name="Text 12"/>
          <p:cNvSpPr/>
          <p:nvPr/>
        </p:nvSpPr>
        <p:spPr>
          <a:xfrm>
            <a:off x="1097280" y="3703320"/>
            <a:ext cx="6949440"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Elisha Clark — Founder, KidVibers
</a:t>
            </a:r>
            <a:pPr algn="ctr" indent="0" marL="0">
              <a:buNone/>
            </a:pPr>
            <a:r>
              <a:rPr lang="en-US" sz="1200" dirty="0">
                <a:solidFill>
                  <a:srgbClr val="A78BFA"/>
                </a:solidFill>
                <a:latin typeface="Calibri" pitchFamily="34" charset="0"/>
                <a:ea typeface="Calibri" pitchFamily="34" charset="-122"/>
                <a:cs typeface="Calibri" pitchFamily="34" charset="-120"/>
              </a:rPr>
              <a:t>📧 support@kidvibers.com   ·   🌐 kidvibers.com</a:t>
            </a:r>
            <a:endParaRPr lang="en-US" sz="1300" dirty="0"/>
          </a:p>
        </p:txBody>
      </p:sp>
      <p:sp>
        <p:nvSpPr>
          <p:cNvPr id="15" name="Text 13"/>
          <p:cNvSpPr/>
          <p:nvPr/>
        </p:nvSpPr>
        <p:spPr>
          <a:xfrm>
            <a:off x="365760" y="4645152"/>
            <a:ext cx="8412480" cy="384048"/>
          </a:xfrm>
          <a:prstGeom prst="rect">
            <a:avLst/>
          </a:prstGeom>
          <a:noFill/>
          <a:ln/>
        </p:spPr>
        <p:txBody>
          <a:bodyPr wrap="square" lIns="0" tIns="0" rIns="0" bIns="0" rtlCol="0" anchor="ctr"/>
          <a:lstStyle/>
          <a:p>
            <a:pPr algn="ctr" indent="0" marL="0">
              <a:buNone/>
            </a:pPr>
            <a:r>
              <a:rPr lang="en-US" sz="1300" b="1" i="1" dirty="0">
                <a:solidFill>
                  <a:srgbClr val="F472B6"/>
                </a:solidFill>
                <a:latin typeface="Calibri" pitchFamily="34" charset="0"/>
                <a:ea typeface="Calibri" pitchFamily="34" charset="-122"/>
                <a:cs typeface="Calibri" pitchFamily="34" charset="-120"/>
              </a:rPr>
              <a:t>"Every kid deserves to learn to code. Let's make that happen — together."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KidVibers Sales Pitch</dc:title>
  <dc:subject>PptxGenJS Presentation</dc:subject>
  <dc:creator>Elisha Clark</dc:creator>
  <cp:lastModifiedBy>Elisha Clark</cp:lastModifiedBy>
  <cp:revision>1</cp:revision>
  <dcterms:created xsi:type="dcterms:W3CDTF">2026-06-25T21:55:14Z</dcterms:created>
  <dcterms:modified xsi:type="dcterms:W3CDTF">2026-06-25T21:55:14Z</dcterms:modified>
</cp:coreProperties>
</file>